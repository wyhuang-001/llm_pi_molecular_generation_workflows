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本页为封面。完整流程见下一页。项目默认采用批量多位点优化：宿主先准备位点与片段 dossier，LLM 通过 PLAN_BATCH 批量提出单点改造，宿主确定性完成 RDKit 构建、价态/电荷、碰撞、去重与几何检查，再对几何通过者做 screening docking，并把有界摘要反馈给 LLM；少量 finalist 用多 seed docking 确认，最终输出历史最佳候选和完整审计。流程图源文件：assets/ppt_mainflow/mermaid/main_flow.mmd。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主流程为默认批量优化模式的对外简化表达，只保留六个关键阶段和一条反馈回路，不展开各工具内部实现。</a:t>
            </a:r>
          </a:p>
          <a:p>
            <a:r>
              <a:t>输入：完整共晶复合物 PDB + 优化任务；宿主解析蛋白/配体坐标与化学拓扑，一次性生成配体、口袋、相互作用、合法位点和片段面板的有界 dossier。</a:t>
            </a:r>
          </a:p>
          <a:p>
            <a:r>
              <a:t>设计：LLM 用 PLAN_BATCH 为多个位点提出多个单点改造；宿主精确执行 transformation、RDKit 构建、价态/电荷、碰撞、去重和几何验证，不把原始坐标或全部片段记录发送给模型。</a:t>
            </a:r>
          </a:p>
          <a:p>
            <a:r>
              <a:t>计算：几何通过者用 screening seed 依次 docking，候选与参考配体使用相同 seed 配对打分。</a:t>
            </a:r>
          </a:p>
          <a:p>
            <a:r>
              <a:t>反馈与收敛：只把有界摘要（几何通过率、分数、pose、相互作用、best-so-far）回传 LLM；LLM 可继续规划、刷新片段面板或选择 CONFIRM，随后用多 seed docking 确认 seed 稳定性和姿态。</a:t>
            </a:r>
          </a:p>
          <a:p>
            <a:r>
              <a:t>停止：LLM 主动停止或达到批次/候选/请求预算；最终输出历史最佳候选和完整审计。docking 结果是固定协议下的排序信号，不等价于实验活性或真实结合自由能。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5778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simple_molecular_agent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90472"/>
            <a:ext cx="749807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保留骨架的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246120"/>
            <a:ext cx="68580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LLM 提出假设 · 宿主与计算工具把关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105656"/>
            <a:ext cx="640080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以真实共晶结构为起点，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通过“提出 → 验证 → 反馈”的闭环收敛候选。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7150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69480" y="868680"/>
            <a:ext cx="0" cy="512064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818120" y="157276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204867"/>
                </a:solidFill>
                <a:latin typeface="Microsoft YaHei"/>
                <a:ea typeface="Microsoft YaHei"/>
              </a:rPr>
              <a:t>主流程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029968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共晶结构输入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宿主生成设计 dossier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LLM 批量规划候选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2999232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宿主构建与几何筛选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screening docking 打分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结果反馈并迭代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968496"/>
            <a:ext cx="37033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CONFIRM 多 seed 确认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6D8292"/>
                </a:solidFill>
                <a:latin typeface="Microsoft YaHei"/>
                <a:ea typeface="Microsoft YaHei"/>
              </a:rPr>
              <a:t>输出最佳候选 + 完整审计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66928" y="6556248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simple_molecular_agent · 从完整共晶复合物出发的闭环分子优化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主流程  /  MAIN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共晶结构 → 设计 → 构建 → docking → 反馈 → 输出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85216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6D8292"/>
                </a:solidFill>
                <a:latin typeface="Microsoft YaHei"/>
                <a:ea typeface="Microsoft YaHei"/>
              </a:rPr>
              <a:t>LLM 负责提出改造方案，宿主负责确定性校验；docking 结果回传形成闭环。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2153412"/>
            <a:ext cx="173736" cy="173736"/>
          </a:xfrm>
          <a:prstGeom prst="ellipse">
            <a:avLst/>
          </a:prstGeom>
          <a:solidFill>
            <a:srgbClr val="AE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25979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宿主（确定性计算与校验）</a:t>
            </a:r>
          </a:p>
        </p:txBody>
      </p:sp>
      <p:sp>
        <p:nvSpPr>
          <p:cNvPr id="8" name="Oval 7"/>
          <p:cNvSpPr/>
          <p:nvPr/>
        </p:nvSpPr>
        <p:spPr>
          <a:xfrm>
            <a:off x="3063240" y="2153412"/>
            <a:ext cx="173736" cy="173736"/>
          </a:xfrm>
          <a:prstGeom prst="ellipse">
            <a:avLst/>
          </a:prstGeom>
          <a:solidFill>
            <a:srgbClr val="CDE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2125979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LLM（改造决策）</a:t>
            </a:r>
          </a:p>
        </p:txBody>
      </p:sp>
      <p:sp>
        <p:nvSpPr>
          <p:cNvPr id="10" name="Oval 9"/>
          <p:cNvSpPr/>
          <p:nvPr/>
        </p:nvSpPr>
        <p:spPr>
          <a:xfrm>
            <a:off x="5522976" y="2153412"/>
            <a:ext cx="173736" cy="173736"/>
          </a:xfrm>
          <a:prstGeom prst="ellipse">
            <a:avLst/>
          </a:prstGeom>
          <a:solidFill>
            <a:srgbClr val="FBE3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9864" y="2125979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Docking（计算反馈）</a:t>
            </a:r>
          </a:p>
        </p:txBody>
      </p:sp>
      <p:sp>
        <p:nvSpPr>
          <p:cNvPr id="12" name="Oval 11"/>
          <p:cNvSpPr/>
          <p:nvPr/>
        </p:nvSpPr>
        <p:spPr>
          <a:xfrm>
            <a:off x="7982712" y="2153412"/>
            <a:ext cx="173736" cy="173736"/>
          </a:xfrm>
          <a:prstGeom prst="ellipse">
            <a:avLst/>
          </a:prstGeom>
          <a:solidFill>
            <a:srgbClr val="E3E8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25979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A4051"/>
                </a:solidFill>
                <a:latin typeface="Microsoft YaHei"/>
                <a:ea typeface="Microsoft YaHei"/>
              </a:rPr>
              <a:t>输入 / 输出</a:t>
            </a:r>
          </a:p>
        </p:txBody>
      </p:sp>
      <p:pic>
        <p:nvPicPr>
          <p:cNvPr id="14" name="Mermaid SVG — main_flow" descr="main_flow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46" y="2432304"/>
            <a:ext cx="11249058" cy="1723516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758952" y="4430140"/>
            <a:ext cx="1065276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13816" y="466788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提出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516166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2A4051"/>
                </a:solidFill>
                <a:latin typeface="Microsoft YaHei"/>
                <a:ea typeface="Microsoft YaHei"/>
              </a:rPr>
              <a:t>LLM 依据配体、口袋与片段证据，批量规划单点改造方案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66788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516166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2A4051"/>
                </a:solidFill>
                <a:latin typeface="Microsoft YaHei"/>
                <a:ea typeface="Microsoft YaHei"/>
              </a:rPr>
              <a:t>宿主确定性构建候选并做价态、电荷、碰撞与几何筛选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466788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516166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2A4051"/>
                </a:solidFill>
                <a:latin typeface="Microsoft YaHei"/>
                <a:ea typeface="Microsoft YaHei"/>
              </a:rPr>
              <a:t>screening docking 打分回传，继续迭代或 CONFIRM 后输出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66928" y="6556248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流程来源：README.md / workflow.mmd；图为 Mermaid 渲染，源文件 assets/ppt_mainflow/mermaid/main_flow.mmd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保留骨架的分子优化智能体 · 主流程</dc:title>
  <dc:subject>simple_molecular_agent 主流程 Mermaid 流程图</dc:subject>
  <dc:creator>黄婉仪</dc:creator>
  <cp:keywords/>
  <dc:description>Mermaid main-flow diagram embedded as SVG with PNG fallback; .mmd source supplied.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