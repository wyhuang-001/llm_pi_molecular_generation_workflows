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本页为封面，完整流程见下一页。系统先解析共晶结构，恢复配体分子图、口袋残基与相互作用、合法位点，并把任务、片段库以及 Playwright MCP 的一次性外部检索结果一起组织为 LLM 的输入上下文；LLM 在此上下文下提出改造思路，系统完成候选构建与化学/几何校验，随后进行 docking 与 RBFE 计算，结果回写并更新上下文，驱动下一轮搜索。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本页是整体主流程，只保留关键阶段与一条反馈回路，不展开各工具内部实现。</a:t>
            </a:r>
          </a:p>
          <a:p>
            <a:r>
              <a:t>输入与上下文：任务与优化目标、完整共晶复合物 PDB、以及可选的 Playwright MCP 一次性外部检索（结构页面、截图与来源）。系统解析 PDB，恢复配体分子图、口袋残基与相互作用、合法位点，并结合片段库组装为 LLM 的输入上下文；原始坐标与全部片段记录不直接发送给模型，只发送有界摘要。</a:t>
            </a:r>
          </a:p>
          <a:p>
            <a:r>
              <a:t>提出思路：LLM 在此上下文下提出改造思路（改哪个位点、接什么片段、依据与风险）。</a:t>
            </a:r>
          </a:p>
          <a:p>
            <a:r>
              <a:t>构建与校验：系统精确执行分子图编辑，完成价态/电荷、碰撞、去重与几何校验。</a:t>
            </a:r>
          </a:p>
          <a:p>
            <a:r>
              <a:t>计算：几何通过者先做 screening docking（多 seed，与参考配体同 seed 配对，并分析相互作用），少量 finalist 再做更高精度的 RBFE 计算。</a:t>
            </a:r>
          </a:p>
          <a:p>
            <a:r>
              <a:t>反馈与输出：docking 与 RBFE 的结果（分数、pose、相互作用、失败原因）回写并更新输入上下文，驱动 LLM 的下一轮思路；满足停止条件后输出最佳候选与完整审计。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57784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58C99"/>
                </a:solidFill>
                <a:latin typeface="Microsoft YaHei"/>
                <a:ea typeface="Microsoft YaHei"/>
              </a:rPr>
              <a:t>近期工作进展  /  simple_molecular_agent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90472"/>
            <a:ext cx="7498079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500" b="1">
                <a:solidFill>
                  <a:srgbClr val="204867"/>
                </a:solidFill>
                <a:latin typeface="Microsoft YaHei"/>
                <a:ea typeface="Microsoft YaHei"/>
              </a:rPr>
              <a:t>保留骨架的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500" b="1">
                <a:solidFill>
                  <a:srgbClr val="204867"/>
                </a:solidFill>
                <a:latin typeface="Microsoft YaHei"/>
                <a:ea typeface="Microsoft YaHei"/>
              </a:rPr>
              <a:t>分子优化智能体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3246120"/>
            <a:ext cx="68580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58C99"/>
                </a:solidFill>
                <a:latin typeface="Microsoft YaHei"/>
                <a:ea typeface="Microsoft YaHei"/>
              </a:rPr>
              <a:t>LLM 提出改造思路 · 系统与计算工具把关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105656"/>
            <a:ext cx="640080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2A4051"/>
                </a:solidFill>
                <a:latin typeface="Microsoft YaHei"/>
                <a:ea typeface="Microsoft YaHei"/>
              </a:rPr>
              <a:t>以真实共晶结构为起点，系统组装上下文，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2A4051"/>
                </a:solidFill>
                <a:latin typeface="Microsoft YaHei"/>
                <a:ea typeface="Microsoft YaHei"/>
              </a:rPr>
              <a:t>LLM 提出思路，docking 与 RBFE 结果回写并迭代。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7150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D8292"/>
                </a:solidFill>
                <a:latin typeface="Microsoft YaHei"/>
                <a:ea typeface="Microsoft YaHei"/>
              </a:rPr>
              <a:t>黄婉仪  ·  2026/9/28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269480" y="868680"/>
            <a:ext cx="0" cy="512064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7818120" y="157276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204867"/>
                </a:solidFill>
                <a:latin typeface="Microsoft YaHei"/>
                <a:ea typeface="Microsoft YaHei"/>
              </a:rPr>
              <a:t>主流程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084831"/>
            <a:ext cx="3703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任务 + 共晶复合物 PDB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系统解析结构 · 组装上下文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Playwright MCP 外部检索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3127248"/>
            <a:ext cx="3703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LLM 提出改造思路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系统构建候选并校验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docking + RBFE 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4169663"/>
            <a:ext cx="37033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结果回写，更新输入上下文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输出最佳候选 + 完整审计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566928" y="6556248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simple_molecular_agent · 从完整共晶复合物出发的闭环分子优化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37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158C99"/>
                </a:solidFill>
                <a:latin typeface="Microsoft YaHei"/>
                <a:ea typeface="Microsoft YaHei"/>
              </a:rPr>
              <a:t>主流程  /  MAIN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612648"/>
            <a:ext cx="1100023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700" b="1">
                <a:solidFill>
                  <a:srgbClr val="204867"/>
                </a:solidFill>
                <a:latin typeface="Microsoft YaHei"/>
                <a:ea typeface="Microsoft YaHei"/>
              </a:rPr>
              <a:t>输入上下文 → 提出思路 → 计算 → 反馈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" y="1271016"/>
            <a:ext cx="11082528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85216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6D8292"/>
                </a:solidFill>
                <a:latin typeface="Microsoft YaHei"/>
                <a:ea typeface="Microsoft YaHei"/>
              </a:rPr>
              <a:t>系统解析结构并组织上下文；LLM 提出改造思路；docking 与 RBFE 结果回写上下文。</a:t>
            </a:r>
          </a:p>
        </p:txBody>
      </p:sp>
      <p:pic>
        <p:nvPicPr>
          <p:cNvPr id="6" name="Mermaid SVG — main_flow" descr="main_flow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244" y="1572768"/>
            <a:ext cx="7404550" cy="47415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56448" y="159105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204867"/>
                </a:solidFill>
                <a:latin typeface="Microsoft YaHei"/>
                <a:ea typeface="Microsoft YaHei"/>
              </a:rPr>
              <a:t>图例</a:t>
            </a:r>
          </a:p>
        </p:txBody>
      </p:sp>
      <p:sp>
        <p:nvSpPr>
          <p:cNvPr id="8" name="Oval 7"/>
          <p:cNvSpPr/>
          <p:nvPr/>
        </p:nvSpPr>
        <p:spPr>
          <a:xfrm>
            <a:off x="8156448" y="1993392"/>
            <a:ext cx="155448" cy="155448"/>
          </a:xfrm>
          <a:prstGeom prst="ellipse">
            <a:avLst/>
          </a:prstGeom>
          <a:solidFill>
            <a:srgbClr val="D9E1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95681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A4051"/>
                </a:solidFill>
                <a:latin typeface="Microsoft YaHei"/>
                <a:ea typeface="Microsoft YaHei"/>
              </a:rPr>
              <a:t>输入与上下文</a:t>
            </a:r>
          </a:p>
        </p:txBody>
      </p:sp>
      <p:sp>
        <p:nvSpPr>
          <p:cNvPr id="10" name="Oval 9"/>
          <p:cNvSpPr/>
          <p:nvPr/>
        </p:nvSpPr>
        <p:spPr>
          <a:xfrm>
            <a:off x="8156448" y="2304288"/>
            <a:ext cx="155448" cy="155448"/>
          </a:xfrm>
          <a:prstGeom prst="ellipse">
            <a:avLst/>
          </a:prstGeom>
          <a:solidFill>
            <a:srgbClr val="CFE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26771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A4051"/>
                </a:solidFill>
                <a:latin typeface="Microsoft YaHei"/>
                <a:ea typeface="Microsoft YaHei"/>
              </a:rPr>
              <a:t>系统：解析结构、构建与校验</a:t>
            </a:r>
          </a:p>
        </p:txBody>
      </p:sp>
      <p:sp>
        <p:nvSpPr>
          <p:cNvPr id="12" name="Oval 11"/>
          <p:cNvSpPr/>
          <p:nvPr/>
        </p:nvSpPr>
        <p:spPr>
          <a:xfrm>
            <a:off x="8156448" y="2615184"/>
            <a:ext cx="155448" cy="155448"/>
          </a:xfrm>
          <a:prstGeom prst="ellipse">
            <a:avLst/>
          </a:prstGeom>
          <a:solidFill>
            <a:srgbClr val="B9E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5786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A4051"/>
                </a:solidFill>
                <a:latin typeface="Microsoft YaHei"/>
                <a:ea typeface="Microsoft YaHei"/>
              </a:rPr>
              <a:t>LLM：提出改造思路</a:t>
            </a:r>
          </a:p>
        </p:txBody>
      </p:sp>
      <p:sp>
        <p:nvSpPr>
          <p:cNvPr id="14" name="Oval 13"/>
          <p:cNvSpPr/>
          <p:nvPr/>
        </p:nvSpPr>
        <p:spPr>
          <a:xfrm>
            <a:off x="8156448" y="2926080"/>
            <a:ext cx="155448" cy="155448"/>
          </a:xfrm>
          <a:prstGeom prst="ellipse">
            <a:avLst/>
          </a:prstGeom>
          <a:solidFill>
            <a:srgbClr val="F7D9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288950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A4051"/>
                </a:solidFill>
                <a:latin typeface="Microsoft YaHei"/>
                <a:ea typeface="Microsoft YaHei"/>
              </a:rPr>
              <a:t>计算反馈：docking / RBFE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56448" y="3364992"/>
            <a:ext cx="3474720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8156448" y="351129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204867"/>
                </a:solidFill>
                <a:latin typeface="Microsoft YaHei"/>
                <a:ea typeface="Microsoft YaHei"/>
              </a:rPr>
              <a:t>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3922776"/>
            <a:ext cx="41148" cy="274320"/>
          </a:xfrm>
          <a:prstGeom prst="rect">
            <a:avLst/>
          </a:prstGeom>
          <a:solidFill>
            <a:srgbClr val="158C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3877056"/>
            <a:ext cx="321868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A4051"/>
                </a:solidFill>
                <a:latin typeface="Microsoft YaHei"/>
                <a:ea typeface="Microsoft YaHei"/>
              </a:rPr>
              <a:t>上下文包含任务、配体分子图、口袋与相互作用、合法位点与片段库。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4526280"/>
            <a:ext cx="41148" cy="274320"/>
          </a:xfrm>
          <a:prstGeom prst="rect">
            <a:avLst/>
          </a:prstGeom>
          <a:solidFill>
            <a:srgbClr val="158C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4480560"/>
            <a:ext cx="321868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A4051"/>
                </a:solidFill>
                <a:latin typeface="Microsoft YaHei"/>
                <a:ea typeface="Microsoft YaHei"/>
              </a:rPr>
              <a:t>LLM 只提出改造思路；候选构建与化学、几何校验由系统完成。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6" y="5129784"/>
            <a:ext cx="41148" cy="274320"/>
          </a:xfrm>
          <a:prstGeom prst="rect">
            <a:avLst/>
          </a:prstGeom>
          <a:solidFill>
            <a:srgbClr val="158C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5084064"/>
            <a:ext cx="321868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A4051"/>
                </a:solidFill>
                <a:latin typeface="Microsoft YaHei"/>
                <a:ea typeface="Microsoft YaHei"/>
              </a:rPr>
              <a:t>docking 与 RBFE 结果回写并更新上下文，驱动下一轮搜索。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5888736"/>
            <a:ext cx="341985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D8292"/>
                </a:solidFill>
                <a:latin typeface="Microsoft YaHei"/>
                <a:ea typeface="Microsoft YaHei"/>
              </a:rPr>
              <a:t>计算结果是固定协议下的筛选信号，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D8292"/>
                </a:solidFill>
                <a:latin typeface="Microsoft YaHei"/>
                <a:ea typeface="Microsoft YaHei"/>
              </a:rPr>
              <a:t>不等同于实验活性或真实结合自由能。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66928" y="6556248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流程来源：README.md / workflow.mmd；图为 Mermaid 渲染，源文件 assets/ppt_mainflow/mermaid/main_flow.mmd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保留骨架的分子优化智能体 · 主流程（修订版）</dc:title>
  <dc:subject>simple_molecular_agent 主流程 Mermaid 流程图：输入上下文、LLM 思路、docking 与 RBFE、反馈更新上下文</dc:subject>
  <dc:creator>黄婉仪</dc:creator>
  <cp:keywords/>
  <dc:description>Mermaid main-flow diagram embedded as SVG with PNG fallback; .mmd source supplied.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