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0.svg" ContentType="image/svg+xml"/>
  <Override PartName="/ppt/media/image4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全部三维蛋白、口袋、配体图均由 4WKQ/raw/4WKQ.original.pdb 的原始坐标渲染；未用生成模型重绘，未最小化或修改原子坐标。配体 IRE A 1101，共31个重原子。保留 CSX A 797；显示 altloc blank/A。固定核心碳以青色、可编辑侧链碳以橙色表示，杂原子按元素区分。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总体框架只保留五个关键节点及反馈回路，不展开各工具内部实现。Mermaid 源文件 assets/ppt_4wkq/mermaid/overview.mmd。结构图 a 为真实 EGFR kinase domain，b 为同一晶体中配体周围6 Å残基表面；使用半透明显示避免遮挡共晶配体，未替换或改变配体姿态。候选排序综合资格与质量函数，不只看单个对接分数。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参考配体与候选：runs/4wkq-llm-20260927-193317/reference-ligand.sdf 和 candidate-06.sdf。起始配体重原子坐标与 4WKQ 原始晶体坐标匹配。候选 #06 是本次运行最佳，不是共晶结构，也不表示已验证实验活性。高亮按实际21个保留重原子与侧链集合，而非无约束MCS。流程图 key_loop.mmd。细节仅存备注：本次闭集C6切口固定，LLM从78条匿名侧链中选择；初始碰撞延后至docking，最终姿态和碰撞必须通过验证。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使用原版两个run的结果快照，不静默替换到其他运行。参考配体3/3 seed校准通过；正文不逐一报告RMSD或20个候选，避免信息过细。78/78是图构建正确，不表示全部初始构象无碰撞；20/20为候选层姿态门控通过；16/20为stability_eligible。主指标minimizedAffinity，展示合格配对seed的平均候选−参考差。LLM best -0.3672533333，随机best -0.5074233333。不得将对接分数当作实验自由能或活性。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下一步：多个LLM/随机/score-guided同预算重复运行；随后按计算证据形成候选清单，并考虑更高精度计算及实验验证。路线图中的实验验证是未来计划，不是已完成结果。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svg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57784"/>
            <a:ext cx="63093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>
                <a:solidFill>
                  <a:srgbClr val="158C99"/>
                </a:solidFill>
                <a:latin typeface="Microsoft YaHei"/>
                <a:ea typeface="Microsoft YaHei"/>
              </a:rPr>
              <a:t>近期工作进展  /  4WKQ · EGFR–gefitinib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508760"/>
            <a:ext cx="6400800" cy="1481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500" b="1">
                <a:solidFill>
                  <a:srgbClr val="204867"/>
                </a:solidFill>
                <a:latin typeface="Microsoft YaHei"/>
                <a:ea typeface="Microsoft YaHei"/>
              </a:rPr>
              <a:t>基于真实结构的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500" b="1">
                <a:solidFill>
                  <a:srgbClr val="204867"/>
                </a:solidFill>
                <a:latin typeface="Microsoft YaHei"/>
                <a:ea typeface="Microsoft YaHei"/>
              </a:rPr>
              <a:t>分子优化智能体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3264408"/>
            <a:ext cx="5943600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100" b="1">
                <a:solidFill>
                  <a:srgbClr val="158C99"/>
                </a:solidFill>
                <a:latin typeface="Microsoft YaHei"/>
                <a:ea typeface="Microsoft YaHei"/>
              </a:rPr>
              <a:t>保留骨架 · 侧链探索 · 计算反馈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4142232"/>
            <a:ext cx="5596128" cy="877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900" b="0">
                <a:solidFill>
                  <a:srgbClr val="2A4051"/>
                </a:solidFill>
                <a:latin typeface="Microsoft YaHei"/>
                <a:ea typeface="Microsoft YaHei"/>
              </a:rPr>
              <a:t>在已知结合模式上，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900" b="0">
                <a:solidFill>
                  <a:srgbClr val="2A4051"/>
                </a:solidFill>
                <a:latin typeface="Microsoft YaHei"/>
                <a:ea typeface="Microsoft YaHei"/>
              </a:rPr>
              <a:t>寻找值得进一步验证的分子改造方案。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5788152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6D8292"/>
                </a:solidFill>
                <a:latin typeface="Microsoft YaHei"/>
                <a:ea typeface="Microsoft YaHei"/>
              </a:rPr>
              <a:t>黄婉仪  ·  2026/9/28</a:t>
            </a:r>
          </a:p>
        </p:txBody>
      </p:sp>
      <p:pic>
        <p:nvPicPr>
          <p:cNvPr id="7" name="Picture 6" descr="4wkq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0024" y="723771"/>
            <a:ext cx="4526280" cy="522757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79792" y="6007608"/>
            <a:ext cx="3749039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6D8292"/>
                </a:solidFill>
                <a:latin typeface="Microsoft YaHei"/>
                <a:ea typeface="Microsoft YaHei"/>
              </a:rPr>
              <a:t>真实晶体结构  |  PDB 4WKQ · 1.85 Å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437376"/>
            <a:ext cx="11091672" cy="0"/>
          </a:xfrm>
          <a:prstGeom prst="line">
            <a:avLst/>
          </a:prstGeom>
          <a:ln w="8890">
            <a:solidFill>
              <a:srgbClr val="DCE8EE"/>
            </a:solidFill>
          </a:ln>
          <a:effectLst/>
        </p:spPr>
      </p:cxnSp>
      <p:sp>
        <p:nvSpPr>
          <p:cNvPr id="10" name="TextBox 9"/>
          <p:cNvSpPr txBox="1"/>
          <p:nvPr/>
        </p:nvSpPr>
        <p:spPr>
          <a:xfrm>
            <a:off x="566928" y="6556248"/>
            <a:ext cx="10607040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850" b="0">
                <a:solidFill>
                  <a:srgbClr val="6D8292"/>
                </a:solidFill>
                <a:latin typeface="Microsoft YaHei"/>
                <a:ea typeface="Microsoft YaHei"/>
              </a:rPr>
              <a:t>结构来源：RCSB PDB 4WKQ；链 A，配体 IRE A 1101；PyMOL 按原始坐标渲染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37392" y="6501384"/>
            <a:ext cx="48463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6D8292"/>
                </a:solidFill>
                <a:latin typeface="Microsoft YaHei"/>
                <a:ea typeface="Microsoft YaHe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57784" y="23774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158C99"/>
                </a:solidFill>
                <a:latin typeface="Microsoft YaHei"/>
                <a:ea typeface="Microsoft YaHei"/>
              </a:rPr>
              <a:t>01  /  整体思路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57784" y="612648"/>
            <a:ext cx="11000232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>
                <a:solidFill>
                  <a:srgbClr val="204867"/>
                </a:solidFill>
                <a:latin typeface="Microsoft YaHei"/>
                <a:ea typeface="Microsoft YaHei"/>
              </a:rPr>
              <a:t>用真实结构约束设计，用计算反馈收敛候选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57784" y="1271016"/>
            <a:ext cx="11082528" cy="0"/>
          </a:xfrm>
          <a:prstGeom prst="line">
            <a:avLst/>
          </a:prstGeom>
          <a:ln w="11430">
            <a:solidFill>
              <a:srgbClr val="DCE8EE"/>
            </a:solidFill>
          </a:ln>
          <a:effectLst/>
        </p:spPr>
      </p:cxnSp>
      <p:cxnSp>
        <p:nvCxnSpPr>
          <p:cNvPr id="5" name="Connector 4"/>
          <p:cNvCxnSpPr/>
          <p:nvPr/>
        </p:nvCxnSpPr>
        <p:spPr>
          <a:xfrm>
            <a:off x="548640" y="6437376"/>
            <a:ext cx="11091672" cy="0"/>
          </a:xfrm>
          <a:prstGeom prst="line">
            <a:avLst/>
          </a:prstGeom>
          <a:ln w="8890">
            <a:solidFill>
              <a:srgbClr val="DCE8EE"/>
            </a:solidFill>
          </a:ln>
          <a:effectLst/>
        </p:spPr>
      </p:cxnSp>
      <p:sp>
        <p:nvSpPr>
          <p:cNvPr id="6" name="TextBox 5"/>
          <p:cNvSpPr txBox="1"/>
          <p:nvPr/>
        </p:nvSpPr>
        <p:spPr>
          <a:xfrm>
            <a:off x="566928" y="6556248"/>
            <a:ext cx="10607040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850" b="0">
                <a:solidFill>
                  <a:srgbClr val="6D8292"/>
                </a:solidFill>
                <a:latin typeface="Microsoft YaHei"/>
                <a:ea typeface="Microsoft YaHei"/>
              </a:rPr>
              <a:t>结构：PDB 4WKQ（原始坐标）；流程图：Mermaid 源文件 + 内嵌 SVG 矢量图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6501384"/>
            <a:ext cx="48463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6D8292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1527048"/>
            <a:ext cx="4078224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204867"/>
                </a:solidFill>
                <a:latin typeface="Microsoft YaHei"/>
                <a:ea typeface="Microsoft YaHei"/>
              </a:rPr>
              <a:t>a  真实复合物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25312" y="1527048"/>
            <a:ext cx="518464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204867"/>
                </a:solidFill>
                <a:latin typeface="Microsoft YaHei"/>
                <a:ea typeface="Microsoft YaHei"/>
              </a:rPr>
              <a:t>b  原始结合口袋</a:t>
            </a:r>
          </a:p>
        </p:txBody>
      </p:sp>
      <p:pic>
        <p:nvPicPr>
          <p:cNvPr id="10" name="Picture 9" descr="4wkq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9652" y="1856231"/>
            <a:ext cx="1456783" cy="1682496"/>
          </a:xfrm>
          <a:prstGeom prst="rect">
            <a:avLst/>
          </a:prstGeom>
        </p:spPr>
      </p:pic>
      <p:pic>
        <p:nvPicPr>
          <p:cNvPr id="11" name="Picture 10" descr="4wkq_pocket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4239" y="1856231"/>
            <a:ext cx="2121616" cy="168249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24128" y="3584448"/>
            <a:ext cx="347472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6D8292"/>
                </a:solidFill>
                <a:latin typeface="Microsoft YaHei"/>
                <a:ea typeface="Microsoft YaHei"/>
              </a:rPr>
              <a:t>已知配体与结合模式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3584448"/>
            <a:ext cx="393192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6D8292"/>
                </a:solidFill>
                <a:latin typeface="Microsoft YaHei"/>
                <a:ea typeface="Microsoft YaHei"/>
              </a:rPr>
              <a:t>口袋环境为局部改造提供约束</a:t>
            </a:r>
          </a:p>
        </p:txBody>
      </p:sp>
      <p:pic>
        <p:nvPicPr>
          <p:cNvPr id="14" name="Mermaid SVG — overview" descr="overview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4246" y="3877056"/>
            <a:ext cx="10260458" cy="1956816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612648" y="5943600"/>
            <a:ext cx="41148" cy="365760"/>
          </a:xfrm>
          <a:prstGeom prst="rect">
            <a:avLst/>
          </a:prstGeom>
          <a:solidFill>
            <a:srgbClr val="158C9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" y="5934456"/>
            <a:ext cx="1074420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950" b="1">
                <a:solidFill>
                  <a:srgbClr val="204867"/>
                </a:solidFill>
                <a:latin typeface="Microsoft YaHei"/>
                <a:ea typeface="Microsoft YaHei"/>
              </a:rPr>
              <a:t>核心是“提出 → 验证 → 反馈”，而不是让模型自由生成分子。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57784" y="23774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158C99"/>
                </a:solidFill>
                <a:latin typeface="Microsoft YaHei"/>
                <a:ea typeface="Microsoft YaHei"/>
              </a:rPr>
              <a:t>02  /  核心策略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57784" y="612648"/>
            <a:ext cx="11000232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>
                <a:solidFill>
                  <a:srgbClr val="204867"/>
                </a:solidFill>
                <a:latin typeface="Microsoft YaHei"/>
                <a:ea typeface="Microsoft YaHei"/>
              </a:rPr>
              <a:t>骨架不变，侧链受控优化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57784" y="1271016"/>
            <a:ext cx="11082528" cy="0"/>
          </a:xfrm>
          <a:prstGeom prst="line">
            <a:avLst/>
          </a:prstGeom>
          <a:ln w="11430">
            <a:solidFill>
              <a:srgbClr val="DCE8EE"/>
            </a:solidFill>
          </a:ln>
          <a:effectLst/>
        </p:spPr>
      </p:cxnSp>
      <p:cxnSp>
        <p:nvCxnSpPr>
          <p:cNvPr id="5" name="Connector 4"/>
          <p:cNvCxnSpPr/>
          <p:nvPr/>
        </p:nvCxnSpPr>
        <p:spPr>
          <a:xfrm>
            <a:off x="548640" y="6437376"/>
            <a:ext cx="11091672" cy="0"/>
          </a:xfrm>
          <a:prstGeom prst="line">
            <a:avLst/>
          </a:prstGeom>
          <a:ln w="8890">
            <a:solidFill>
              <a:srgbClr val="DCE8EE"/>
            </a:solidFill>
          </a:ln>
          <a:effectLst/>
        </p:spPr>
      </p:cxnSp>
      <p:sp>
        <p:nvSpPr>
          <p:cNvPr id="6" name="TextBox 5"/>
          <p:cNvSpPr txBox="1"/>
          <p:nvPr/>
        </p:nvSpPr>
        <p:spPr>
          <a:xfrm>
            <a:off x="566928" y="6556248"/>
            <a:ext cx="10607040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850" b="0">
                <a:solidFill>
                  <a:srgbClr val="6D8292"/>
                </a:solidFill>
                <a:latin typeface="Microsoft YaHei"/>
                <a:ea typeface="Microsoft YaHei"/>
              </a:rPr>
              <a:t>原配体与候选结构来自实际 SDF；候选为计算构建结构，不是新的晶体结构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6501384"/>
            <a:ext cx="48463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6D8292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1508760"/>
            <a:ext cx="45537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204867"/>
                </a:solidFill>
                <a:latin typeface="Microsoft YaHei"/>
                <a:ea typeface="Microsoft YaHei"/>
              </a:rPr>
              <a:t>共晶配体  /  gefitinib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51192" y="1508760"/>
            <a:ext cx="4325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204867"/>
                </a:solidFill>
                <a:latin typeface="Microsoft YaHei"/>
                <a:ea typeface="Microsoft YaHei"/>
              </a:rPr>
              <a:t>候选示例  /  计算构建</a:t>
            </a:r>
          </a:p>
        </p:txBody>
      </p:sp>
      <p:pic>
        <p:nvPicPr>
          <p:cNvPr id="10" name="Picture 9" descr="reference_lig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479" y="1883664"/>
            <a:ext cx="3295185" cy="1801368"/>
          </a:xfrm>
          <a:prstGeom prst="rect">
            <a:avLst/>
          </a:prstGeom>
        </p:spPr>
      </p:pic>
      <p:pic>
        <p:nvPicPr>
          <p:cNvPr id="11" name="Picture 10" descr="candidate_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9287" y="1883664"/>
            <a:ext cx="3295185" cy="18013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175504" y="2487168"/>
            <a:ext cx="178308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158C99"/>
                </a:solidFill>
                <a:latin typeface="Microsoft YaHei"/>
                <a:ea typeface="Microsoft YaHei"/>
              </a:rPr>
              <a:t>固定核心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158C99"/>
                </a:solidFill>
                <a:latin typeface="Microsoft YaHei"/>
                <a:ea typeface="Microsoft YaHei"/>
              </a:rPr>
              <a:t>仅改侧链</a:t>
            </a:r>
          </a:p>
        </p:txBody>
      </p:sp>
      <p:sp>
        <p:nvSpPr>
          <p:cNvPr id="13" name="Oval 12"/>
          <p:cNvSpPr/>
          <p:nvPr/>
        </p:nvSpPr>
        <p:spPr>
          <a:xfrm>
            <a:off x="969264" y="3794760"/>
            <a:ext cx="118872" cy="118872"/>
          </a:xfrm>
          <a:prstGeom prst="ellipse">
            <a:avLst/>
          </a:prstGeom>
          <a:solidFill>
            <a:srgbClr val="AEDF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9576" y="373075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6D8292"/>
                </a:solidFill>
                <a:latin typeface="Microsoft YaHei"/>
                <a:ea typeface="Microsoft YaHei"/>
              </a:rPr>
              <a:t>浅蓝：保留的核心骨架</a:t>
            </a:r>
          </a:p>
        </p:txBody>
      </p:sp>
      <p:sp>
        <p:nvSpPr>
          <p:cNvPr id="15" name="Oval 14"/>
          <p:cNvSpPr/>
          <p:nvPr/>
        </p:nvSpPr>
        <p:spPr>
          <a:xfrm>
            <a:off x="7287768" y="3794760"/>
            <a:ext cx="118872" cy="118872"/>
          </a:xfrm>
          <a:prstGeom prst="ellipse">
            <a:avLst/>
          </a:prstGeom>
          <a:solidFill>
            <a:srgbClr val="FFCB8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79" y="3730752"/>
            <a:ext cx="3794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6D8292"/>
                </a:solidFill>
                <a:latin typeface="Microsoft YaHei"/>
                <a:ea typeface="Microsoft YaHei"/>
              </a:rPr>
              <a:t>浅橙：允许替换的侧链</a:t>
            </a:r>
          </a:p>
        </p:txBody>
      </p:sp>
      <p:pic>
        <p:nvPicPr>
          <p:cNvPr id="17" name="Mermaid SVG — key_loop" descr="key_loop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28444" y="4096512"/>
            <a:ext cx="8150351" cy="1746504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612648" y="5934456"/>
            <a:ext cx="41148" cy="365760"/>
          </a:xfrm>
          <a:prstGeom prst="rect">
            <a:avLst/>
          </a:prstGeom>
          <a:solidFill>
            <a:srgbClr val="158C9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8" y="5925312"/>
            <a:ext cx="1074420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950" b="1">
                <a:solidFill>
                  <a:srgbClr val="204867"/>
                </a:solidFill>
                <a:latin typeface="Microsoft YaHei"/>
                <a:ea typeface="Microsoft YaHei"/>
              </a:rPr>
              <a:t>模型负责提出方案；是否进入候选排序，由计算验证决定。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57784" y="23774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158C99"/>
                </a:solidFill>
                <a:latin typeface="Microsoft YaHei"/>
                <a:ea typeface="Microsoft YaHei"/>
              </a:rPr>
              <a:t>03  /  当前进展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57784" y="612648"/>
            <a:ext cx="11000232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>
                <a:solidFill>
                  <a:srgbClr val="204867"/>
                </a:solidFill>
                <a:latin typeface="Microsoft YaHei"/>
                <a:ea typeface="Microsoft YaHei"/>
              </a:rPr>
              <a:t>闭环已跑通，策略收益仍需验证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57784" y="1271016"/>
            <a:ext cx="11082528" cy="0"/>
          </a:xfrm>
          <a:prstGeom prst="line">
            <a:avLst/>
          </a:prstGeom>
          <a:ln w="11430">
            <a:solidFill>
              <a:srgbClr val="DCE8EE"/>
            </a:solidFill>
          </a:ln>
          <a:effectLst/>
        </p:spPr>
      </p:cxnSp>
      <p:sp>
        <p:nvSpPr>
          <p:cNvPr id="5" name="TextBox 4"/>
          <p:cNvSpPr txBox="1"/>
          <p:nvPr/>
        </p:nvSpPr>
        <p:spPr>
          <a:xfrm>
            <a:off x="585216" y="1453896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6D8292"/>
                </a:solidFill>
                <a:latin typeface="Microsoft YaHei"/>
                <a:ea typeface="Microsoft YaHei"/>
              </a:rPr>
              <a:t>4WKQ 闭集验证：同一候选库，每次运行最多提出 20 个候选。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437376"/>
            <a:ext cx="11091672" cy="0"/>
          </a:xfrm>
          <a:prstGeom prst="line">
            <a:avLst/>
          </a:prstGeom>
          <a:ln w="8890">
            <a:solidFill>
              <a:srgbClr val="DCE8EE"/>
            </a:solidFill>
          </a:ln>
          <a:effectLst/>
        </p:spPr>
      </p:cxnSp>
      <p:sp>
        <p:nvSpPr>
          <p:cNvPr id="7" name="TextBox 6"/>
          <p:cNvSpPr txBox="1"/>
          <p:nvPr/>
        </p:nvSpPr>
        <p:spPr>
          <a:xfrm>
            <a:off x="566928" y="6556248"/>
            <a:ext cx="10607040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850" b="0">
                <a:solidFill>
                  <a:srgbClr val="6D8292"/>
                </a:solidFill>
                <a:latin typeface="Microsoft YaHei"/>
                <a:ea typeface="Microsoft YaHei"/>
              </a:rPr>
              <a:t>数据：LLM run 20260927-193317 / random-baseline-v1；沿用原汇报数据快照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501384"/>
            <a:ext cx="48463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6D8292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084831"/>
            <a:ext cx="338328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400" b="1">
                <a:solidFill>
                  <a:srgbClr val="158C99"/>
                </a:solidFill>
                <a:latin typeface="Microsoft YaHei"/>
                <a:ea typeface="Microsoft YaHei"/>
              </a:rPr>
              <a:t>78 / 78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" y="2743200"/>
            <a:ext cx="347472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0">
                <a:solidFill>
                  <a:srgbClr val="2A4051"/>
                </a:solidFill>
                <a:latin typeface="Microsoft YaHei"/>
                <a:ea typeface="Microsoft YaHei"/>
              </a:rPr>
              <a:t>侧链可正确构建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261104" y="2148840"/>
            <a:ext cx="0" cy="978408"/>
          </a:xfrm>
          <a:prstGeom prst="line">
            <a:avLst/>
          </a:prstGeom>
          <a:ln w="11430">
            <a:solidFill>
              <a:srgbClr val="DCE8EE"/>
            </a:solidFill>
          </a:ln>
          <a:effectLst/>
        </p:spPr>
      </p:cxnSp>
      <p:sp>
        <p:nvSpPr>
          <p:cNvPr id="12" name="TextBox 11"/>
          <p:cNvSpPr txBox="1"/>
          <p:nvPr/>
        </p:nvSpPr>
        <p:spPr>
          <a:xfrm>
            <a:off x="4608576" y="2084831"/>
            <a:ext cx="338328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400" b="1">
                <a:solidFill>
                  <a:srgbClr val="158C99"/>
                </a:solidFill>
                <a:latin typeface="Microsoft YaHei"/>
                <a:ea typeface="Microsoft YaHei"/>
              </a:rPr>
              <a:t>20 / 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2743200"/>
            <a:ext cx="347472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0">
                <a:solidFill>
                  <a:srgbClr val="2A4051"/>
                </a:solidFill>
                <a:latin typeface="Microsoft YaHei"/>
                <a:ea typeface="Microsoft YaHei"/>
              </a:rPr>
              <a:t>LLM 候选通过姿态验证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055864" y="2148840"/>
            <a:ext cx="0" cy="978408"/>
          </a:xfrm>
          <a:prstGeom prst="line">
            <a:avLst/>
          </a:prstGeom>
          <a:ln w="11430">
            <a:solidFill>
              <a:srgbClr val="DCE8EE"/>
            </a:solidFill>
          </a:ln>
          <a:effectLst/>
        </p:spPr>
      </p:cxnSp>
      <p:sp>
        <p:nvSpPr>
          <p:cNvPr id="15" name="TextBox 14"/>
          <p:cNvSpPr txBox="1"/>
          <p:nvPr/>
        </p:nvSpPr>
        <p:spPr>
          <a:xfrm>
            <a:off x="8403336" y="2084831"/>
            <a:ext cx="338328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400" b="1">
                <a:solidFill>
                  <a:srgbClr val="158C99"/>
                </a:solidFill>
                <a:latin typeface="Microsoft YaHei"/>
                <a:ea typeface="Microsoft YaHei"/>
              </a:rPr>
              <a:t>16 / 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03336" y="2743200"/>
            <a:ext cx="347472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0">
                <a:solidFill>
                  <a:srgbClr val="2A4051"/>
                </a:solidFill>
                <a:latin typeface="Microsoft YaHei"/>
                <a:ea typeface="Microsoft YaHei"/>
              </a:rPr>
              <a:t>LLM 候选具稳定性资格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58952" y="3419856"/>
            <a:ext cx="10652760" cy="0"/>
          </a:xfrm>
          <a:prstGeom prst="line">
            <a:avLst/>
          </a:prstGeom>
          <a:ln w="11430">
            <a:solidFill>
              <a:srgbClr val="DCE8EE"/>
            </a:solidFill>
          </a:ln>
          <a:effectLst/>
        </p:spPr>
      </p:cxnSp>
      <p:sp>
        <p:nvSpPr>
          <p:cNvPr id="18" name="TextBox 17"/>
          <p:cNvSpPr txBox="1"/>
          <p:nvPr/>
        </p:nvSpPr>
        <p:spPr>
          <a:xfrm>
            <a:off x="832104" y="3694176"/>
            <a:ext cx="49834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204867"/>
                </a:solidFill>
                <a:latin typeface="Microsoft YaHei"/>
                <a:ea typeface="Microsoft YaHei"/>
              </a:rPr>
              <a:t>单次最佳 docking 差值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" y="4215384"/>
            <a:ext cx="1600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2A4051"/>
                </a:solidFill>
                <a:latin typeface="Microsoft YaHei"/>
                <a:ea typeface="Microsoft YaHei"/>
              </a:rPr>
              <a:t>LLM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96312" y="4142232"/>
            <a:ext cx="213055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>
                <a:solidFill>
                  <a:srgbClr val="158C99"/>
                </a:solidFill>
                <a:latin typeface="Microsoft YaHei"/>
                <a:ea typeface="Microsoft YaHei"/>
              </a:rPr>
              <a:t>-0.367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" y="4855464"/>
            <a:ext cx="1600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2A4051"/>
                </a:solidFill>
                <a:latin typeface="Microsoft YaHei"/>
                <a:ea typeface="Microsoft YaHei"/>
              </a:rPr>
              <a:t>随机基线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96312" y="4782312"/>
            <a:ext cx="213055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>
                <a:solidFill>
                  <a:srgbClr val="204867"/>
                </a:solidFill>
                <a:latin typeface="Microsoft YaHei"/>
                <a:ea typeface="Microsoft YaHei"/>
              </a:rPr>
              <a:t>-0.507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" y="5532120"/>
            <a:ext cx="50017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6D8292"/>
                </a:solidFill>
                <a:latin typeface="Microsoft YaHei"/>
                <a:ea typeface="Microsoft YaHei"/>
              </a:rPr>
              <a:t>Δ = 候选 − 参考；负值更优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0256" y="3913632"/>
            <a:ext cx="4690872" cy="9052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500" b="1">
                <a:solidFill>
                  <a:srgbClr val="204867"/>
                </a:solidFill>
                <a:latin typeface="Microsoft YaHei"/>
                <a:ea typeface="Microsoft YaHei"/>
              </a:rPr>
              <a:t>已证明链路可用，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500" b="1">
                <a:solidFill>
                  <a:srgbClr val="204867"/>
                </a:solidFill>
                <a:latin typeface="Microsoft YaHei"/>
                <a:ea typeface="Microsoft YaHei"/>
              </a:rPr>
              <a:t>尚未证明 LLM 更优。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47688" y="5065776"/>
            <a:ext cx="4700016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0">
                <a:solidFill>
                  <a:srgbClr val="6D8292"/>
                </a:solidFill>
                <a:latin typeface="Microsoft YaHei"/>
                <a:ea typeface="Microsoft YaHei"/>
              </a:rPr>
              <a:t>单次 docking 结果，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0">
                <a:solidFill>
                  <a:srgbClr val="6D8292"/>
                </a:solidFill>
                <a:latin typeface="Microsoft YaHei"/>
                <a:ea typeface="Microsoft YaHei"/>
              </a:rPr>
              <a:t>不能替代重复比较与实验验证。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" y="5943600"/>
            <a:ext cx="41148" cy="365760"/>
          </a:xfrm>
          <a:prstGeom prst="rect">
            <a:avLst/>
          </a:prstGeom>
          <a:solidFill>
            <a:srgbClr val="158C9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5528" y="5934456"/>
            <a:ext cx="1074420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950" b="1">
                <a:solidFill>
                  <a:srgbClr val="204867"/>
                </a:solidFill>
                <a:latin typeface="Microsoft YaHei"/>
                <a:ea typeface="Microsoft YaHei"/>
              </a:rPr>
              <a:t>下一步，以等预算重复实验检验真正的筛选收益。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57784" y="23774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158C99"/>
                </a:solidFill>
                <a:latin typeface="Microsoft YaHei"/>
                <a:ea typeface="Microsoft YaHei"/>
              </a:rPr>
              <a:t>04  /  总结与下一步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57784" y="612648"/>
            <a:ext cx="11000232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>
                <a:solidFill>
                  <a:srgbClr val="204867"/>
                </a:solidFill>
                <a:latin typeface="Microsoft YaHei"/>
                <a:ea typeface="Microsoft YaHei"/>
              </a:rPr>
              <a:t>让 LLM 提出假设，让结构与计算工具把关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57784" y="1271016"/>
            <a:ext cx="11082528" cy="0"/>
          </a:xfrm>
          <a:prstGeom prst="line">
            <a:avLst/>
          </a:prstGeom>
          <a:ln w="11430">
            <a:solidFill>
              <a:srgbClr val="DCE8EE"/>
            </a:solidFill>
          </a:ln>
          <a:effectLst/>
        </p:spPr>
      </p:cxnSp>
      <p:cxnSp>
        <p:nvCxnSpPr>
          <p:cNvPr id="5" name="Connector 4"/>
          <p:cNvCxnSpPr/>
          <p:nvPr/>
        </p:nvCxnSpPr>
        <p:spPr>
          <a:xfrm>
            <a:off x="548640" y="6437376"/>
            <a:ext cx="11091672" cy="0"/>
          </a:xfrm>
          <a:prstGeom prst="line">
            <a:avLst/>
          </a:prstGeom>
          <a:ln w="8890">
            <a:solidFill>
              <a:srgbClr val="DCE8EE"/>
            </a:solidFill>
          </a:ln>
          <a:effectLst/>
        </p:spPr>
      </p:cxnSp>
      <p:sp>
        <p:nvSpPr>
          <p:cNvPr id="6" name="TextBox 5"/>
          <p:cNvSpPr txBox="1"/>
          <p:nvPr/>
        </p:nvSpPr>
        <p:spPr>
          <a:xfrm>
            <a:off x="566928" y="6556248"/>
            <a:ext cx="10607040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850" b="0">
                <a:solidFill>
                  <a:srgbClr val="6D8292"/>
                </a:solidFill>
                <a:latin typeface="Microsoft YaHei"/>
                <a:ea typeface="Microsoft YaHei"/>
              </a:rPr>
              <a:t>4WKQ · 保留骨架的分子优化智能体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6501384"/>
            <a:ext cx="48463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6D8292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01952"/>
            <a:ext cx="1001268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600" b="1">
                <a:solidFill>
                  <a:srgbClr val="204867"/>
                </a:solidFill>
                <a:latin typeface="Microsoft YaHei"/>
                <a:ea typeface="Microsoft YaHei"/>
              </a:rPr>
              <a:t>目标不是“自动证明一个新药”，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600" b="1">
                <a:solidFill>
                  <a:srgbClr val="204867"/>
                </a:solidFill>
                <a:latin typeface="Microsoft YaHei"/>
                <a:ea typeface="Microsoft YaHei"/>
              </a:rPr>
              <a:t>而是更有依据地缩小候选范围。</a:t>
            </a:r>
          </a:p>
        </p:txBody>
      </p:sp>
      <p:pic>
        <p:nvPicPr>
          <p:cNvPr id="9" name="Mermaid SVG — next_steps" descr="next_steps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09899" y="2889504"/>
            <a:ext cx="8350864" cy="1664208"/>
          </a:xfrm>
          <a:prstGeom prst="rect">
            <a:avLst/>
          </a:prstGeom>
        </p:spPr>
      </p:pic>
      <p:cxnSp>
        <p:nvCxnSpPr>
          <p:cNvPr id="10" name="Connector 9"/>
          <p:cNvCxnSpPr/>
          <p:nvPr/>
        </p:nvCxnSpPr>
        <p:spPr>
          <a:xfrm>
            <a:off x="813816" y="4718304"/>
            <a:ext cx="10515600" cy="0"/>
          </a:xfrm>
          <a:prstGeom prst="line">
            <a:avLst/>
          </a:prstGeom>
          <a:ln w="11430">
            <a:solidFill>
              <a:srgbClr val="DCE8EE"/>
            </a:solidFill>
          </a:ln>
          <a:effectLst/>
        </p:spPr>
      </p:cxnSp>
      <p:sp>
        <p:nvSpPr>
          <p:cNvPr id="11" name="TextBox 10"/>
          <p:cNvSpPr txBox="1"/>
          <p:nvPr/>
        </p:nvSpPr>
        <p:spPr>
          <a:xfrm>
            <a:off x="868680" y="5020056"/>
            <a:ext cx="2990088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100" b="1">
                <a:solidFill>
                  <a:srgbClr val="158C99"/>
                </a:solidFill>
                <a:latin typeface="Microsoft YaHei"/>
                <a:ea typeface="Microsoft YaHei"/>
              </a:rPr>
              <a:t>候选结构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513832"/>
            <a:ext cx="309981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6D8292"/>
                </a:solidFill>
                <a:latin typeface="Microsoft YaHei"/>
                <a:ea typeface="Microsoft YaHei"/>
              </a:rPr>
              <a:t>可复现的分子改造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5020056"/>
            <a:ext cx="2990088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100" b="1">
                <a:solidFill>
                  <a:srgbClr val="158C99"/>
                </a:solidFill>
                <a:latin typeface="Microsoft YaHei"/>
                <a:ea typeface="Microsoft YaHei"/>
              </a:rPr>
              <a:t>验证证据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5513832"/>
            <a:ext cx="309981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6D8292"/>
                </a:solidFill>
                <a:latin typeface="Microsoft YaHei"/>
                <a:ea typeface="Microsoft YaHei"/>
              </a:rPr>
              <a:t>结构与计算结果支持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0183" y="5020056"/>
            <a:ext cx="2990088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100" b="1">
                <a:solidFill>
                  <a:srgbClr val="158C99"/>
                </a:solidFill>
                <a:latin typeface="Microsoft YaHei"/>
                <a:ea typeface="Microsoft YaHei"/>
              </a:rPr>
              <a:t>完整记录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0183" y="5513832"/>
            <a:ext cx="309981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6D8292"/>
                </a:solidFill>
                <a:latin typeface="Microsoft YaHei"/>
                <a:ea typeface="Microsoft YaHei"/>
              </a:rPr>
              <a:t>决策和运行过程可追溯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基于4WKQ真实结构的分子优化智能体</dc:title>
  <dc:subject>真实晶体结构 + Mermaid 总体闭环；五页简洁版</dc:subject>
  <dc:creator>黄婉仪</dc:creator>
  <cp:keywords/>
  <dc:description>3D visuals rendered directly from deposited 4WKQ coordinates. Mermaid SVGs with PNG fallbacks; MMD source supplied. No generative molecular redraw.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