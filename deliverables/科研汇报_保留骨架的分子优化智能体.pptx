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lecular_agent_cover.pn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214884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760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WenQuanYi Zen Hei"/>
              </a:rPr>
              <a:t>科研汇报 · 外行友好版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49834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3000"/>
              </a:lnSpc>
            </a:pPr>
            <a:r>
              <a:rPr sz="3100" b="1">
                <a:solidFill>
                  <a:srgbClr val="FFFFFF"/>
                </a:solidFill>
                <a:latin typeface="WenQuanYi Zen Hei"/>
              </a:rPr>
              <a:t>让 AI 帮忙改分子，
但不让它自由发挥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788920"/>
            <a:ext cx="46634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D3E4F1"/>
                </a:solidFill>
                <a:latin typeface="WenQuanYi Zen Hei"/>
              </a:rPr>
              <a:t>一个保留已知药物骨架、结合蛋白口袋信息、
并由计算工具逐步验真的分子优化智能体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6656" y="3822191"/>
            <a:ext cx="1197863" cy="0"/>
          </a:xfrm>
          <a:prstGeom prst="line">
            <a:avLst/>
          </a:prstGeom>
          <a:ln w="3810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6656" y="4041648"/>
            <a:ext cx="44805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WenQuanYi Zen Hei"/>
              </a:rPr>
              <a:t>核心思路：LLM 提假设，Host 做化学与结构验证，
Docking 提供反馈，再进入下一轮。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5925312"/>
            <a:ext cx="1097280" cy="310896"/>
          </a:xfrm>
          <a:prstGeom prst="roundRect">
            <a:avLst/>
          </a:prstGeom>
          <a:solidFill>
            <a:srgbClr val="0D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59344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WenQuanYi Zen Hei"/>
              </a:rPr>
              <a:t>共晶结构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83664" y="5925312"/>
            <a:ext cx="1097280" cy="310896"/>
          </a:xfrm>
          <a:prstGeom prst="roundRect">
            <a:avLst/>
          </a:prstGeom>
          <a:solidFill>
            <a:srgbClr val="0D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83664" y="59344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WenQuanYi Zen Hei"/>
              </a:rPr>
              <a:t>单点编辑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90672" y="5925312"/>
            <a:ext cx="1417320" cy="310896"/>
          </a:xfrm>
          <a:prstGeom prst="roundRect">
            <a:avLst/>
          </a:prstGeom>
          <a:solidFill>
            <a:srgbClr val="0D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593445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WenQuanYi Zen Hei"/>
              </a:rPr>
              <a:t>多 seed 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153912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>
                <a:solidFill>
                  <a:srgbClr val="CBDDED"/>
                </a:solidFill>
                <a:latin typeface="WenQuanYi Zen Hei"/>
              </a:rPr>
              <a:t>Simple Molecular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2A33A"/>
                </a:solidFill>
                <a:latin typeface="WenQuanYi Zen Hei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60704" y="457200"/>
            <a:ext cx="356616" cy="0"/>
          </a:xfrm>
          <a:prstGeom prst="line">
            <a:avLst/>
          </a:prstGeom>
          <a:ln w="2794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219456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D41"/>
                </a:solidFill>
                <a:latin typeface="WenQuanYi Zen Hei"/>
              </a:rPr>
              <a:t>它要解决什么问题？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69494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26273"/>
                </a:solidFill>
                <a:latin typeface="WenQuanYi Zen Hei"/>
              </a:rPr>
              <a:t>药物分子优化不是“分数越高越好”，而是多重约束下的可解释搜索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188720"/>
            <a:ext cx="5596128" cy="713232"/>
          </a:xfrm>
          <a:prstGeom prst="round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32588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WenQuanYi Zen Hei"/>
              </a:rPr>
              <a:t>同一骨架只改一小段，</a:t>
            </a:r>
            <a:r>
              <a:rPr sz="1600" b="1">
                <a:solidFill>
                  <a:srgbClr val="F2A33A"/>
                </a:solidFill>
                <a:latin typeface="WenQuanYi Zen Hei"/>
              </a:rPr>
              <a:t>结果却可能完全不同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2121408"/>
            <a:ext cx="5596128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304288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WenQuanYi Zen 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24942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D41"/>
                </a:solidFill>
                <a:latin typeface="WenQuanYi Zen Hei"/>
              </a:rPr>
              <a:t>选择空间很大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560320"/>
            <a:ext cx="43708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526273"/>
                </a:solidFill>
                <a:latin typeface="WenQuanYi Zen Hei"/>
              </a:rPr>
              <a:t>一个位点就可能有几十到成千上万种侧链；
真正昂贵的是后续构建与 docking。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282696"/>
            <a:ext cx="5596128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3465576"/>
            <a:ext cx="493776" cy="493776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65576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WenQuanYi Zen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4107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D41"/>
                </a:solidFill>
                <a:latin typeface="WenQuanYi Zen Hei"/>
              </a:rPr>
              <a:t>能接上 ≠ 能结合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721608"/>
            <a:ext cx="43708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526273"/>
                </a:solidFill>
                <a:latin typeface="WenQuanYi Zen Hei"/>
              </a:rPr>
              <a:t>化学价态正确还不够：要放得进、方向对、
还要保留关键骨架与锚点。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4443983"/>
            <a:ext cx="5596128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626864"/>
            <a:ext cx="493776" cy="493776"/>
          </a:xfrm>
          <a:prstGeom prst="ellipse">
            <a:avLst/>
          </a:prstGeom>
          <a:solidFill>
            <a:srgbClr val="F2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26864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WenQuanYi Zen 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571999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D41"/>
                </a:solidFill>
                <a:latin typeface="WenQuanYi Zen Hei"/>
              </a:rPr>
              <a:t>单次评分会骗人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882896"/>
            <a:ext cx="437083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526273"/>
                </a:solidFill>
                <a:latin typeface="WenQuanYi Zen Hei"/>
              </a:rPr>
              <a:t>不同随机 seed、不同 pose 可能给出不同答案；
必须看稳定性与一致性。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188720"/>
            <a:ext cx="5138928" cy="4928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olecular_agent_cover.png"/>
          <p:cNvPicPr>
            <a:picLocks noChangeAspect="1"/>
          </p:cNvPicPr>
          <p:nvPr/>
        </p:nvPicPr>
        <p:blipFill>
          <a:blip r:embed="rId2"/>
          <a:srcRect l="10368" r="10368"/>
          <a:stretch>
            <a:fillRect/>
          </a:stretch>
        </p:blipFill>
        <p:spPr>
          <a:xfrm>
            <a:off x="6556248" y="1298448"/>
            <a:ext cx="4919472" cy="349300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812280" y="4352544"/>
            <a:ext cx="4407408" cy="1389888"/>
          </a:xfrm>
          <a:prstGeom prst="round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95744" y="4553712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A33A"/>
                </a:solidFill>
                <a:latin typeface="WenQuanYi Zen Hei"/>
              </a:rPr>
              <a:t>通俗类比：钥匙配锁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4" y="4919472"/>
            <a:ext cx="3840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FFFFF"/>
                </a:solidFill>
                <a:latin typeface="WenQuanYi Zen Hei"/>
              </a:rPr>
              <a:t>不只是“能塞进去”，还要方向正确、
关键齿位不变，而且多次尝试都能复现。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78899A"/>
                </a:solidFill>
                <a:latin typeface="WenQuanYi Zen Hei"/>
              </a:rPr>
              <a:t>问题边界：当前目标是计算筛选与排序，不直接等同于实验活性或临床效果。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899A"/>
                </a:solidFill>
                <a:latin typeface="WenQuanYi Zen 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2A33A"/>
                </a:solidFill>
                <a:latin typeface="WenQuanYi Zen Hei"/>
              </a:rPr>
              <a:t>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60704" y="457200"/>
            <a:ext cx="356616" cy="0"/>
          </a:xfrm>
          <a:prstGeom prst="line">
            <a:avLst/>
          </a:prstGeom>
          <a:ln w="2794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219456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D41"/>
                </a:solidFill>
                <a:latin typeface="WenQuanYi Zen Hei"/>
              </a:rPr>
              <a:t>当前项目具体做什么？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69494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26273"/>
                </a:solidFill>
                <a:latin typeface="WenQuanYi Zen Hei"/>
              </a:rPr>
              <a:t>以共晶结构为锚点，对已知配体做“保留骨架的单点微调”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61872"/>
            <a:ext cx="4617720" cy="307238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31152" y="1261872"/>
            <a:ext cx="4617720" cy="307238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481328"/>
            <a:ext cx="758952" cy="310896"/>
          </a:xfrm>
          <a:prstGeom prst="roundRect">
            <a:avLst/>
          </a:prstGeom>
          <a:solidFill>
            <a:srgbClr val="0D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4904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WenQuanYi Zen Hei"/>
              </a:rPr>
              <a:t>起点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453896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D41"/>
                </a:solidFill>
                <a:latin typeface="WenQuanYi Zen Hei"/>
              </a:rPr>
              <a:t>原始共晶配体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8896" y="1481328"/>
            <a:ext cx="758952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8896" y="1490472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WenQuanYi Zen Hei"/>
              </a:rPr>
              <a:t>候选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453896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2D41"/>
                </a:solidFill>
                <a:latin typeface="WenQuanYi Zen Hei"/>
              </a:rPr>
              <a:t>单一位点的类似物</a:t>
            </a:r>
          </a:p>
        </p:txBody>
      </p:sp>
      <p:pic>
        <p:nvPicPr>
          <p:cNvPr id="14" name="Picture 13" descr="reference_lig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446" y="1883664"/>
            <a:ext cx="3383842" cy="2084831"/>
          </a:xfrm>
          <a:prstGeom prst="rect">
            <a:avLst/>
          </a:prstGeom>
        </p:spPr>
      </p:pic>
      <p:pic>
        <p:nvPicPr>
          <p:cNvPr id="15" name="Picture 14" descr="best_candi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490" y="1883664"/>
            <a:ext cx="3407898" cy="2084831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5532120" y="2075688"/>
            <a:ext cx="1124712" cy="1124712"/>
          </a:xfrm>
          <a:prstGeom prst="ellipse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2075688"/>
            <a:ext cx="1124712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WenQuanYi Zen Hei"/>
              </a:rPr>
              <a:t>单点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587752"/>
            <a:ext cx="11247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2A33A"/>
                </a:solidFill>
                <a:latin typeface="WenQuanYi Zen Hei"/>
              </a:rPr>
              <a:t>侧链替换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84064" y="2633472"/>
            <a:ext cx="402336" cy="0"/>
          </a:xfrm>
          <a:prstGeom prst="line">
            <a:avLst/>
          </a:prstGeom>
          <a:ln w="29209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84264" y="2633472"/>
            <a:ext cx="210312" cy="0"/>
          </a:xfrm>
          <a:prstGeom prst="line">
            <a:avLst/>
          </a:prstGeom>
          <a:ln w="29209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" y="4526280"/>
            <a:ext cx="10908792" cy="1316736"/>
          </a:xfrm>
          <a:prstGeom prst="round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479145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7914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WenQuanYi Zen He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2184" y="472744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WenQuanYi Zen Hei"/>
              </a:rPr>
              <a:t>骨架保留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506577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>
                <a:solidFill>
                  <a:srgbClr val="B8CFE2"/>
                </a:solidFill>
                <a:latin typeface="WenQuanYi Zen Hei"/>
              </a:rPr>
              <a:t>不做无约束 scaffold hopping</a:t>
            </a:r>
          </a:p>
        </p:txBody>
      </p:sp>
      <p:sp>
        <p:nvSpPr>
          <p:cNvPr id="26" name="Oval 25"/>
          <p:cNvSpPr/>
          <p:nvPr/>
        </p:nvSpPr>
        <p:spPr>
          <a:xfrm>
            <a:off x="3566160" y="479145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7914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WenQuanYi Zen 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42232" y="472744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WenQuanYi Zen Hei"/>
              </a:rPr>
              <a:t>口袋条件化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42232" y="506577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>
                <a:solidFill>
                  <a:srgbClr val="B8CFE2"/>
                </a:solidFill>
                <a:latin typeface="WenQuanYi Zen Hei"/>
              </a:rPr>
              <a:t>利用局部空间与残基环境</a:t>
            </a:r>
          </a:p>
        </p:txBody>
      </p:sp>
      <p:sp>
        <p:nvSpPr>
          <p:cNvPr id="30" name="Oval 29"/>
          <p:cNvSpPr/>
          <p:nvPr/>
        </p:nvSpPr>
        <p:spPr>
          <a:xfrm>
            <a:off x="6236208" y="4791456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47914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WenQuanYi Zen 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72744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WenQuanYi Zen Hei"/>
              </a:rPr>
              <a:t>相互作用感知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06577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>
                <a:solidFill>
                  <a:srgbClr val="B8CFE2"/>
                </a:solidFill>
                <a:latin typeface="WenQuanYi Zen Hei"/>
              </a:rPr>
              <a:t>关注锚点、gain / loss</a:t>
            </a:r>
          </a:p>
        </p:txBody>
      </p:sp>
      <p:sp>
        <p:nvSpPr>
          <p:cNvPr id="34" name="Oval 33"/>
          <p:cNvSpPr/>
          <p:nvPr/>
        </p:nvSpPr>
        <p:spPr>
          <a:xfrm>
            <a:off x="8906256" y="4791456"/>
            <a:ext cx="438912" cy="438912"/>
          </a:xfrm>
          <a:prstGeom prst="ellipse">
            <a:avLst/>
          </a:prstGeom>
          <a:solidFill>
            <a:srgbClr val="F2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06256" y="479145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WenQuanYi Zen He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2328" y="472744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WenQuanYi Zen Hei"/>
              </a:rPr>
              <a:t>完整可审计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2328" y="506577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0">
                <a:solidFill>
                  <a:srgbClr val="B8CFE2"/>
                </a:solidFill>
                <a:latin typeface="WenQuanYi Zen Hei"/>
              </a:rPr>
              <a:t>每个决策、结构、分数可追溯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16936" y="5998464"/>
            <a:ext cx="6345936" cy="384048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16936" y="6016752"/>
            <a:ext cx="63459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0947E"/>
                </a:solidFill>
                <a:latin typeface="WenQuanYi Zen Hei"/>
              </a:rPr>
              <a:t>不是让 LLM 随机写 SMILES，而是让它在受控动作空间里做策略选择。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78899A"/>
                </a:solidFill>
                <a:latin typeface="WenQuanYi Zen Hei"/>
              </a:rPr>
              <a:t>示例结构来自 4WKQ–gefitinib 闭集 benchmark 的本地运行产物。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899A"/>
                </a:solidFill>
                <a:latin typeface="WenQuanYi Zen 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2A33A"/>
                </a:solidFill>
                <a:latin typeface="WenQuanYi Zen Hei"/>
              </a:rPr>
              <a:t>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60704" y="457200"/>
            <a:ext cx="356616" cy="0"/>
          </a:xfrm>
          <a:prstGeom prst="line">
            <a:avLst/>
          </a:prstGeom>
          <a:ln w="2794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219456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WenQuanYi Zen Hei"/>
              </a:rPr>
              <a:t>项目框架：LLM 做策略，Host 做裁判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69494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B1C9DF"/>
                </a:solidFill>
                <a:latin typeface="WenQuanYi Zen Hei"/>
              </a:rPr>
              <a:t>核心是一个“提出假设 → 确定性验证 → 反馈学习”的闭环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35024"/>
            <a:ext cx="1965960" cy="4334256"/>
          </a:xfrm>
          <a:prstGeom prst="roundRect">
            <a:avLst/>
          </a:prstGeom>
          <a:solidFill>
            <a:srgbClr val="0D233B"/>
          </a:solidFill>
          <a:ln w="12700">
            <a:solidFill>
              <a:srgbClr val="2A5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581912"/>
            <a:ext cx="713232" cy="310896"/>
          </a:xfrm>
          <a:prstGeom prst="roundRect">
            <a:avLst/>
          </a:prstGeom>
          <a:solidFill>
            <a:srgbClr val="F2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91056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WenQuanYi Zen Hei"/>
              </a:rPr>
              <a:t>输入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176272"/>
            <a:ext cx="2286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139696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WenQuanYi Zen Hei"/>
              </a:rPr>
              <a:t>共晶复合物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41448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AEC7DD"/>
                </a:solidFill>
                <a:latin typeface="WenQuanYi Zen Hei"/>
              </a:rPr>
              <a:t>蛋白 + 原始配体三维坐标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163824"/>
            <a:ext cx="2286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2724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WenQuanYi Zen Hei"/>
              </a:rPr>
              <a:t>任务约束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AEC7DD"/>
                </a:solidFill>
                <a:latin typeface="WenQuanYi Zen Hei"/>
              </a:rPr>
              <a:t>允许位点、预算、保护核心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151376"/>
            <a:ext cx="2286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11480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WenQuanYi Zen Hei"/>
              </a:rPr>
              <a:t>本地片段库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16552"/>
            <a:ext cx="14081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AEC7DD"/>
                </a:solidFill>
                <a:latin typeface="WenQuanYi Zen Hei"/>
              </a:rPr>
              <a:t>真实 fragment ID 与性质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6352" y="1335024"/>
            <a:ext cx="6611112" cy="4334256"/>
          </a:xfrm>
          <a:prstGeom prst="roundRect">
            <a:avLst/>
          </a:prstGeom>
          <a:solidFill>
            <a:srgbClr val="0A1C31"/>
          </a:solidFill>
          <a:ln w="12700">
            <a:solidFill>
              <a:srgbClr val="2A5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72384" y="1572768"/>
            <a:ext cx="1097280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72384" y="15819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WenQuanYi Zen Hei"/>
              </a:rPr>
              <a:t>智能体闭环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7248" y="2029968"/>
            <a:ext cx="1417320" cy="2670048"/>
          </a:xfrm>
          <a:prstGeom prst="roundRect">
            <a:avLst/>
          </a:prstGeom>
          <a:solidFill>
            <a:srgbClr val="163048"/>
          </a:solidFill>
          <a:ln w="12700">
            <a:solidFill>
              <a:srgbClr val="3665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2249424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WenQuanYi Zen Hei"/>
              </a:rPr>
              <a:t>结构 dossier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2743200"/>
            <a:ext cx="914400" cy="246888"/>
          </a:xfrm>
          <a:prstGeom prst="roundRect">
            <a:avLst/>
          </a:prstGeom>
          <a:solidFill>
            <a:srgbClr val="1F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4992" y="2743200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>
                <a:solidFill>
                  <a:srgbClr val="D1E6F3"/>
                </a:solidFill>
                <a:latin typeface="WenQuanYi Zen Hei"/>
              </a:rPr>
              <a:t>ligand 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64992" y="3090672"/>
            <a:ext cx="914400" cy="246888"/>
          </a:xfrm>
          <a:prstGeom prst="roundRect">
            <a:avLst/>
          </a:prstGeom>
          <a:solidFill>
            <a:srgbClr val="1F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3090672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>
                <a:solidFill>
                  <a:srgbClr val="D1E6F3"/>
                </a:solidFill>
                <a:latin typeface="WenQuanYi Zen Hei"/>
              </a:rPr>
              <a:t>pocket 环境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64992" y="3438144"/>
            <a:ext cx="914400" cy="246888"/>
          </a:xfrm>
          <a:prstGeom prst="roundRect">
            <a:avLst/>
          </a:prstGeom>
          <a:solidFill>
            <a:srgbClr val="1F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64992" y="3438144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>
                <a:solidFill>
                  <a:srgbClr val="D1E6F3"/>
                </a:solidFill>
                <a:latin typeface="WenQuanYi Zen Hei"/>
              </a:rPr>
              <a:t>interaction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4992" y="3785616"/>
            <a:ext cx="914400" cy="246888"/>
          </a:xfrm>
          <a:prstGeom prst="roundRect">
            <a:avLst/>
          </a:prstGeom>
          <a:solidFill>
            <a:srgbClr val="1F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64992" y="3785616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>
                <a:solidFill>
                  <a:srgbClr val="D1E6F3"/>
                </a:solidFill>
                <a:latin typeface="WenQuanYi Zen Hei"/>
              </a:rPr>
              <a:t>合法位点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64992" y="4133087"/>
            <a:ext cx="914400" cy="246888"/>
          </a:xfrm>
          <a:prstGeom prst="roundRect">
            <a:avLst/>
          </a:prstGeom>
          <a:solidFill>
            <a:srgbClr val="1F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64992" y="4133087"/>
            <a:ext cx="9144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60" b="0">
                <a:solidFill>
                  <a:srgbClr val="D1E6F3"/>
                </a:solidFill>
                <a:latin typeface="WenQuanYi Zen Hei"/>
              </a:rPr>
              <a:t>片段面板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19472" y="2029968"/>
            <a:ext cx="1847088" cy="1060704"/>
          </a:xfrm>
          <a:prstGeom prst="roundRect">
            <a:avLst/>
          </a:prstGeom>
          <a:solidFill>
            <a:srgbClr val="0D575C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8" y="2231136"/>
            <a:ext cx="1408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WenQuanYi Zen Hei"/>
              </a:rPr>
              <a:t>LLM 策略层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2" y="2587752"/>
            <a:ext cx="1499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" b="0">
                <a:solidFill>
                  <a:srgbClr val="B8F4EB"/>
                </a:solidFill>
                <a:latin typeface="WenQuanYi Zen Hei"/>
              </a:rPr>
              <a:t>PLAN_BATCH / QUERY / STOP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28032" y="3685032"/>
            <a:ext cx="1280160" cy="1024128"/>
          </a:xfrm>
          <a:prstGeom prst="roundRect">
            <a:avLst/>
          </a:prstGeom>
          <a:solidFill>
            <a:srgbClr val="1A344D"/>
          </a:solidFill>
          <a:ln w="12700">
            <a:solidFill>
              <a:srgbClr val="396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4" y="3840480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>
                <a:solidFill>
                  <a:srgbClr val="FFFFFF"/>
                </a:solidFill>
                <a:latin typeface="WenQuanYi Zen Hei"/>
              </a:rPr>
              <a:t>RDKit 构建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01184" y="4215384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B0CBE1"/>
                </a:solidFill>
                <a:latin typeface="WenQuanYi Zen Hei"/>
              </a:rPr>
              <a:t>价态 · 电荷 · 去重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685032"/>
            <a:ext cx="1280160" cy="1024128"/>
          </a:xfrm>
          <a:prstGeom prst="roundRect">
            <a:avLst/>
          </a:prstGeom>
          <a:solidFill>
            <a:srgbClr val="1A344D"/>
          </a:solidFill>
          <a:ln w="12700">
            <a:solidFill>
              <a:srgbClr val="396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3840480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>
                <a:solidFill>
                  <a:srgbClr val="FFFFFF"/>
                </a:solidFill>
                <a:latin typeface="WenQuanYi Zen Hei"/>
              </a:rPr>
              <a:t>几何预筛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215384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B0CBE1"/>
                </a:solidFill>
                <a:latin typeface="WenQuanYi Zen Hei"/>
              </a:rPr>
              <a:t>碰撞 · 空间 · 身份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90688" y="3685032"/>
            <a:ext cx="1353312" cy="1024128"/>
          </a:xfrm>
          <a:prstGeom prst="roundRect">
            <a:avLst/>
          </a:prstGeom>
          <a:solidFill>
            <a:srgbClr val="1A344D"/>
          </a:solidFill>
          <a:ln w="12700">
            <a:solidFill>
              <a:srgbClr val="3968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3840480"/>
            <a:ext cx="12070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>
                <a:solidFill>
                  <a:srgbClr val="FFFFFF"/>
                </a:solidFill>
                <a:latin typeface="WenQuanYi Zen Hei"/>
              </a:rPr>
              <a:t>Docking / PLIP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215384"/>
            <a:ext cx="12070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30" b="0">
                <a:solidFill>
                  <a:srgbClr val="B0CBE1"/>
                </a:solidFill>
                <a:latin typeface="WenQuanYi Zen Hei"/>
              </a:rPr>
              <a:t>pose · 锚点 · 多 seed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53712" y="2560320"/>
            <a:ext cx="320040" cy="0"/>
          </a:xfrm>
          <a:prstGeom prst="line">
            <a:avLst/>
          </a:prstGeom>
          <a:ln w="2667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486400" y="3108960"/>
            <a:ext cx="347472" cy="530352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17336" y="4197096"/>
            <a:ext cx="155448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598664" y="4197096"/>
            <a:ext cx="164592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476488" y="3246120"/>
            <a:ext cx="0" cy="402336"/>
          </a:xfrm>
          <a:prstGeom prst="line">
            <a:avLst/>
          </a:prstGeom>
          <a:ln w="2540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6986016" y="3246120"/>
            <a:ext cx="1490472" cy="0"/>
          </a:xfrm>
          <a:prstGeom prst="line">
            <a:avLst/>
          </a:prstGeom>
          <a:ln w="2540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986016" y="2560320"/>
            <a:ext cx="0" cy="685800"/>
          </a:xfrm>
          <a:prstGeom prst="line">
            <a:avLst/>
          </a:prstGeom>
          <a:ln w="2540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251192" y="297180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2A33A"/>
                </a:solidFill>
                <a:latin typeface="WenQuanYi Zen Hei"/>
              </a:rPr>
              <a:t>压缩反馈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02352" y="4983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B8CFE2"/>
                </a:solidFill>
                <a:latin typeface="WenQuanYi Zen Hei"/>
              </a:rPr>
              <a:t>Host 决定“能不能做、是否可信”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10928" y="1335024"/>
            <a:ext cx="1920240" cy="4334256"/>
          </a:xfrm>
          <a:prstGeom prst="roundRect">
            <a:avLst/>
          </a:prstGeom>
          <a:solidFill>
            <a:srgbClr val="0D233B"/>
          </a:solidFill>
          <a:ln w="12700">
            <a:solidFill>
              <a:srgbClr val="2A52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966960" y="1581912"/>
            <a:ext cx="713232" cy="310896"/>
          </a:xfrm>
          <a:prstGeom prst="roundRect">
            <a:avLst/>
          </a:prstGeom>
          <a:solidFill>
            <a:srgbClr val="F2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66960" y="1591056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WenQuanYi Zen Hei"/>
              </a:rPr>
              <a:t>输出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85248" y="2176272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WenQuanYi Zen Hei"/>
              </a:rPr>
              <a:t>历史最佳候选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85248" y="248716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AEC7DD"/>
                </a:solidFill>
                <a:latin typeface="WenQuanYi Zen Hei"/>
              </a:rPr>
              <a:t>不是最后一次，而是最佳且稳定者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85248" y="3163824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WenQuanYi Zen Hei"/>
              </a:rPr>
              <a:t>位点级 SAR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85248" y="34747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AEC7DD"/>
                </a:solidFill>
                <a:latin typeface="WenQuanYi Zen Hei"/>
              </a:rPr>
              <a:t>知道什么改动有效 / 无效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85248" y="4151376"/>
            <a:ext cx="1325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WenQuanYi Zen Hei"/>
              </a:rPr>
              <a:t>完整审计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85248" y="4462272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AEC7DD"/>
                </a:solidFill>
                <a:latin typeface="WenQuanYi Zen Hei"/>
              </a:rPr>
              <a:t>JSON、SDF、命令、pose、日志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551176" y="3474720"/>
            <a:ext cx="219456" cy="0"/>
          </a:xfrm>
          <a:prstGeom prst="line">
            <a:avLst/>
          </a:prstGeom>
          <a:ln w="3048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445752" y="3474720"/>
            <a:ext cx="228600" cy="0"/>
          </a:xfrm>
          <a:prstGeom prst="line">
            <a:avLst/>
          </a:prstGeom>
          <a:ln w="3048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3584448" y="5907024"/>
            <a:ext cx="4983480" cy="384048"/>
          </a:xfrm>
          <a:prstGeom prst="roundRect">
            <a:avLst/>
          </a:prstGeom>
          <a:solidFill>
            <a:srgbClr val="103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84448" y="5925312"/>
            <a:ext cx="4983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1">
                <a:solidFill>
                  <a:srgbClr val="CFE9F1"/>
                </a:solidFill>
                <a:latin typeface="WenQuanYi Zen Hei"/>
              </a:rPr>
              <a:t>一次请求规划多个候选；宿主批量筛选，只把有价值的结果反馈给模型。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92A8BE"/>
                </a:solidFill>
                <a:latin typeface="WenQuanYi Zen Hei"/>
              </a:rPr>
              <a:t>当前主流程运行到 docking；RBFE 保留为未来阶段，不伪造自由能结果。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4712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92A8BE"/>
                </a:solidFill>
                <a:latin typeface="WenQuanYi Zen 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2A33A"/>
                </a:solidFill>
                <a:latin typeface="WenQuanYi Zen Hei"/>
              </a:rPr>
              <a:t>05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60704" y="457200"/>
            <a:ext cx="356616" cy="0"/>
          </a:xfrm>
          <a:prstGeom prst="line">
            <a:avLst/>
          </a:prstGeom>
          <a:ln w="2794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219456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D41"/>
                </a:solidFill>
                <a:latin typeface="WenQuanYi Zen Hei"/>
              </a:rPr>
              <a:t>为什么这个框架比“让 AI 直接给答案”更可信？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69494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26273"/>
                </a:solidFill>
                <a:latin typeface="WenQuanYi Zen Hei"/>
              </a:rPr>
              <a:t>关键不是模型有多会说，而是每个建议都要穿过确定性的证据门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34440"/>
            <a:ext cx="5394960" cy="2075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394960" cy="2075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481328"/>
            <a:ext cx="1353312" cy="310896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490472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WenQuanYi Zen Hei"/>
              </a:rPr>
              <a:t>LLM：策略层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28232" y="1481328"/>
            <a:ext cx="1600200" cy="310896"/>
          </a:xfrm>
          <a:prstGeom prst="roundRect">
            <a:avLst/>
          </a:prstGeom>
          <a:solidFill>
            <a:srgbClr val="0D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49047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WenQuanYi Zen Hei"/>
              </a:rPr>
              <a:t>Host：事实与裁判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1901952"/>
            <a:ext cx="4407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1B2D41"/>
                </a:solidFill>
                <a:latin typeface="WenQuanYi Zen Hei"/>
              </a:rPr>
              <a:t>选择值得尝试的位点与片段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350008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2286000"/>
            <a:ext cx="4407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1B2D41"/>
                </a:solidFill>
                <a:latin typeface="WenQuanYi Zen Hei"/>
              </a:rPr>
              <a:t>提出可检验的结构假设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2734056"/>
            <a:ext cx="164592" cy="16459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2670048"/>
            <a:ext cx="4407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1B2D41"/>
                </a:solidFill>
                <a:latin typeface="WenQuanYi Zen Hei"/>
              </a:rPr>
              <a:t>阅读趋势，决定继续、查询或停止</a:t>
            </a:r>
          </a:p>
        </p:txBody>
      </p:sp>
      <p:sp>
        <p:nvSpPr>
          <p:cNvPr id="18" name="Oval 17"/>
          <p:cNvSpPr/>
          <p:nvPr/>
        </p:nvSpPr>
        <p:spPr>
          <a:xfrm>
            <a:off x="6473952" y="1965960"/>
            <a:ext cx="164592" cy="164592"/>
          </a:xfrm>
          <a:prstGeom prst="ellipse">
            <a:avLst/>
          </a:prstGeom>
          <a:solidFill>
            <a:srgbClr val="0D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7416" y="1901952"/>
            <a:ext cx="4407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1B2D41"/>
                </a:solidFill>
                <a:latin typeface="WenQuanYi Zen Hei"/>
              </a:rPr>
              <a:t>执行精确分子图编辑与化学校验</a:t>
            </a:r>
          </a:p>
        </p:txBody>
      </p:sp>
      <p:sp>
        <p:nvSpPr>
          <p:cNvPr id="20" name="Oval 19"/>
          <p:cNvSpPr/>
          <p:nvPr/>
        </p:nvSpPr>
        <p:spPr>
          <a:xfrm>
            <a:off x="6473952" y="2350008"/>
            <a:ext cx="164592" cy="164592"/>
          </a:xfrm>
          <a:prstGeom prst="ellipse">
            <a:avLst/>
          </a:prstGeom>
          <a:solidFill>
            <a:srgbClr val="0D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57416" y="2286000"/>
            <a:ext cx="4407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1B2D41"/>
                </a:solidFill>
                <a:latin typeface="WenQuanYi Zen Hei"/>
              </a:rPr>
              <a:t>做碰撞、pose、锚点和多 seed 门控</a:t>
            </a:r>
          </a:p>
        </p:txBody>
      </p:sp>
      <p:sp>
        <p:nvSpPr>
          <p:cNvPr id="22" name="Oval 21"/>
          <p:cNvSpPr/>
          <p:nvPr/>
        </p:nvSpPr>
        <p:spPr>
          <a:xfrm>
            <a:off x="6473952" y="2734056"/>
            <a:ext cx="164592" cy="164592"/>
          </a:xfrm>
          <a:prstGeom prst="ellipse">
            <a:avLst/>
          </a:prstGeom>
          <a:solidFill>
            <a:srgbClr val="0D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7416" y="2670048"/>
            <a:ext cx="4407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>
                <a:solidFill>
                  <a:srgbClr val="1B2D41"/>
                </a:solidFill>
                <a:latin typeface="WenQuanYi Zen Hei"/>
              </a:rPr>
              <a:t>保存结构、分数、命令和完整审计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593592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2D41"/>
                </a:solidFill>
                <a:latin typeface="WenQuanYi Zen Hei"/>
              </a:rPr>
              <a:t>四道证据门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23360"/>
            <a:ext cx="24871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59" y="4251960"/>
            <a:ext cx="475488" cy="47548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25196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WenQuanYi Zen 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7" y="419709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D41"/>
                </a:solidFill>
                <a:latin typeface="WenQuanYi Zen Hei"/>
              </a:rPr>
              <a:t>化学合法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736592"/>
            <a:ext cx="2039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526273"/>
                </a:solidFill>
                <a:latin typeface="WenQuanYi Zen Hei"/>
              </a:rPr>
              <a:t>价态 / 电荷 / 结构身份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63824" y="4727448"/>
            <a:ext cx="237744" cy="0"/>
          </a:xfrm>
          <a:prstGeom prst="line">
            <a:avLst/>
          </a:prstGeom>
          <a:ln w="2540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456432" y="4023360"/>
            <a:ext cx="24871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21024" y="4251960"/>
            <a:ext cx="475488" cy="47548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21024" y="425196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WenQuanYi Zen He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3672" y="419709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D41"/>
                </a:solidFill>
                <a:latin typeface="WenQuanYi Zen Hei"/>
              </a:rPr>
              <a:t>几何可行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5888" y="4736592"/>
            <a:ext cx="2039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526273"/>
                </a:solidFill>
                <a:latin typeface="WenQuanYi Zen Hei"/>
              </a:rPr>
              <a:t>空间碰撞 / 构象 / 去重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61888" y="4727448"/>
            <a:ext cx="237744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254496" y="4023360"/>
            <a:ext cx="24871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19088" y="4251960"/>
            <a:ext cx="475488" cy="475488"/>
          </a:xfrm>
          <a:prstGeom prst="ellipse">
            <a:avLst/>
          </a:prstGeom>
          <a:solidFill>
            <a:srgbClr val="F2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25196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WenQuanYi Zen He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1736" y="419709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D41"/>
                </a:solidFill>
                <a:latin typeface="WenQuanYi Zen Hei"/>
              </a:rPr>
              <a:t>姿态保留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4736592"/>
            <a:ext cx="2039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526273"/>
                </a:solidFill>
                <a:latin typeface="WenQuanYi Zen Hei"/>
              </a:rPr>
              <a:t>固定核心 RMSD / 关键锚点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759952" y="4727448"/>
            <a:ext cx="237744" cy="0"/>
          </a:xfrm>
          <a:prstGeom prst="line">
            <a:avLst/>
          </a:prstGeom>
          <a:ln w="2540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52560" y="4023360"/>
            <a:ext cx="248716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4251960"/>
            <a:ext cx="475488" cy="475488"/>
          </a:xfrm>
          <a:prstGeom prst="ellipse">
            <a:avLst/>
          </a:prstGeom>
          <a:solidFill>
            <a:srgbClr val="109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425196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WenQuanYi Zen He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9800" y="4197096"/>
            <a:ext cx="14813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D41"/>
                </a:solidFill>
                <a:latin typeface="WenQuanYi Zen Hei"/>
              </a:rPr>
              <a:t>结果稳定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2016" y="4736592"/>
            <a:ext cx="20391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>
                <a:solidFill>
                  <a:srgbClr val="526273"/>
                </a:solidFill>
                <a:latin typeface="WenQuanYi Zen Hei"/>
              </a:rPr>
              <a:t>多 seed 一致 / interaction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673352" y="5742432"/>
            <a:ext cx="8842248" cy="521207"/>
          </a:xfrm>
          <a:prstGeom prst="round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73352" y="5760720"/>
            <a:ext cx="884224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2A33A"/>
                </a:solidFill>
                <a:latin typeface="WenQuanYi Zen Hei"/>
              </a:rPr>
              <a:t>智能 ≠ 自由发挥；  </a:t>
            </a:r>
            <a:r>
              <a:rPr sz="1200" b="1">
                <a:solidFill>
                  <a:srgbClr val="FFFFFF"/>
                </a:solidFill>
                <a:latin typeface="WenQuanYi Zen Hei"/>
              </a:rPr>
              <a:t>智能 = 提出假设 + 接受可复现的计算反馈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78899A"/>
                </a:solidFill>
                <a:latin typeface="WenQuanYi Zen Hei"/>
              </a:rPr>
              <a:t>严格门控也会拒绝“看起来分数不错、但姿态不可信”的候选。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899A"/>
                </a:solidFill>
                <a:latin typeface="WenQuanYi Zen 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2A33A"/>
                </a:solidFill>
                <a:latin typeface="WenQuanYi Zen Hei"/>
              </a:rPr>
              <a:t>06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60704" y="457200"/>
            <a:ext cx="356616" cy="0"/>
          </a:xfrm>
          <a:prstGeom prst="line">
            <a:avLst/>
          </a:prstGeom>
          <a:ln w="27940">
            <a:solidFill>
              <a:srgbClr val="F2A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554480" y="219456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D41"/>
                </a:solidFill>
                <a:latin typeface="WenQuanYi Zen Hei"/>
              </a:rPr>
              <a:t>当前进展：链路已跑通，而且知道哪些结论还不能下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694944"/>
            <a:ext cx="9784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26273"/>
                </a:solidFill>
                <a:latin typeface="WenQuanYi Zen Hei"/>
              </a:rPr>
              <a:t>4WKQ–EGFR / gefitinib 闭集侧链 benchmark 的本地审计结果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14300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" y="1143000"/>
            <a:ext cx="82296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2527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4B8A6"/>
                </a:solidFill>
                <a:latin typeface="WenQuanYi Zen Hei"/>
              </a:rPr>
              <a:t>3 /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627632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2D41"/>
                </a:solidFill>
                <a:latin typeface="WenQuanYi Zen Hei"/>
              </a:rPr>
              <a:t>参考配体 seed 校准通过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1847088"/>
            <a:ext cx="2331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526273"/>
                </a:solidFill>
                <a:latin typeface="WenQuanYi Zen Hei"/>
              </a:rPr>
              <a:t>核心 RMSD 0.297–0.413 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114300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6704" y="1143000"/>
            <a:ext cx="82296" cy="9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12527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8BDF8"/>
                </a:solidFill>
                <a:latin typeface="WenQuanYi Zen Hei"/>
              </a:rPr>
              <a:t>78 / 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1627632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2D41"/>
                </a:solidFill>
                <a:latin typeface="WenQuanYi Zen Hei"/>
              </a:rPr>
              <a:t>匿名侧链可精确构建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1847088"/>
            <a:ext cx="2331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526273"/>
                </a:solidFill>
                <a:latin typeface="WenQuanYi Zen Hei"/>
              </a:rPr>
              <a:t>固定切口、图身份全部通过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192" y="114300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08192" y="1143000"/>
            <a:ext cx="82296" cy="914400"/>
          </a:xfrm>
          <a:prstGeom prst="rect">
            <a:avLst/>
          </a:prstGeom>
          <a:solidFill>
            <a:srgbClr val="F2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2527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2A33A"/>
                </a:solidFill>
                <a:latin typeface="WenQuanYi Zen Hei"/>
              </a:rPr>
              <a:t>20 /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627632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2D41"/>
                </a:solidFill>
                <a:latin typeface="WenQuanYi Zen Hei"/>
              </a:rPr>
              <a:t>LLM 候选完成 pose 评价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847088"/>
            <a:ext cx="2331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526273"/>
                </a:solidFill>
                <a:latin typeface="WenQuanYi Zen Hei"/>
              </a:rPr>
              <a:t>均通过本次 pose-retention 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143000"/>
            <a:ext cx="2651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1143000"/>
            <a:ext cx="82296" cy="914400"/>
          </a:xfrm>
          <a:prstGeom prst="rect">
            <a:avLst/>
          </a:prstGeom>
          <a:solidFill>
            <a:srgbClr val="109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25272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0947E"/>
                </a:solidFill>
                <a:latin typeface="WenQuanYi Zen Hei"/>
              </a:rPr>
              <a:t>16 / 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627632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B2D41"/>
                </a:solidFill>
                <a:latin typeface="WenQuanYi Zen Hei"/>
              </a:rPr>
              <a:t>达到 seed 稳定性资格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847088"/>
            <a:ext cx="233172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>
                <a:solidFill>
                  <a:srgbClr val="526273"/>
                </a:solidFill>
                <a:latin typeface="WenQuanYi Zen Hei"/>
              </a:rPr>
              <a:t>best 在 3/3 seeds 改善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" y="2267712"/>
            <a:ext cx="3685032" cy="3401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2450592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D41"/>
                </a:solidFill>
                <a:latin typeface="WenQuanYi Zen Hei"/>
              </a:rPr>
              <a:t>参考校准：姿态远低于 2 Å 门槛</a:t>
            </a:r>
          </a:p>
        </p:txBody>
      </p:sp>
      <p:pic>
        <p:nvPicPr>
          <p:cNvPr id="28" name="Picture 27" descr="reference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257637"/>
            <a:ext cx="3310127" cy="157716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443984" y="2267712"/>
            <a:ext cx="7086600" cy="34015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0016" y="2450592"/>
            <a:ext cx="65105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D41"/>
                </a:solidFill>
                <a:latin typeface="WenQuanYi Zen Hei"/>
              </a:rPr>
              <a:t>一次 LLM 运行中，20 个候选相对参考配体的 docking 差值</a:t>
            </a:r>
          </a:p>
        </p:txBody>
      </p:sp>
      <p:pic>
        <p:nvPicPr>
          <p:cNvPr id="31" name="Picture 30" descr="llm_candidate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2918889"/>
            <a:ext cx="6656832" cy="232781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585216" y="5843016"/>
            <a:ext cx="10945368" cy="48463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F4C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870448"/>
            <a:ext cx="10515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9A5B0B"/>
                </a:solidFill>
                <a:latin typeface="WenQuanYi Zen Hei"/>
              </a:rPr>
              <a:t>必须诚实：</a:t>
            </a:r>
            <a:r>
              <a:rPr sz="950" b="1">
                <a:solidFill>
                  <a:srgbClr val="1B2D41"/>
                </a:solidFill>
                <a:latin typeface="WenQuanYi Zen Hei"/>
              </a:rPr>
              <a:t>单次 LLM run 的 best Δ=-0.367；单次随机基线 best Δ=-0.507。</a:t>
            </a:r>
            <a:r>
              <a:rPr sz="950" b="0">
                <a:solidFill>
                  <a:srgbClr val="526273"/>
                </a:solidFill>
                <a:latin typeface="WenQuanYi Zen Hei"/>
              </a:rPr>
              <a:t>  说明系统已可公平比较，但尚不能声称 LLM 优于基线，更不能声称实验活性提升。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78899A"/>
                </a:solidFill>
                <a:latin typeface="WenQuanYi Zen Hei"/>
              </a:rPr>
              <a:t>来源：4WKQ/BENCHMARK_RUNNING.md、参考 calibration.json、LLM 与 random baseline 的 result.json。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78899A"/>
                </a:solidFill>
                <a:latin typeface="WenQuanYi Zen 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lecular_agent_outcome.png"/>
          <p:cNvPicPr>
            <a:picLocks noChangeAspect="1"/>
          </p:cNvPicPr>
          <p:nvPr/>
        </p:nvPicPr>
        <p:blipFill>
          <a:blip r:embed="rId2"/>
          <a:srcRect t="25" b="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28816" cy="6858000"/>
          </a:xfrm>
          <a:prstGeom prst="rect">
            <a:avLst/>
          </a:prstGeom>
          <a:solidFill>
            <a:srgbClr val="07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30352"/>
            <a:ext cx="1024128" cy="310896"/>
          </a:xfrm>
          <a:prstGeom prst="roundRect">
            <a:avLst/>
          </a:prstGeom>
          <a:solidFill>
            <a:srgbClr val="F2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39496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WenQuanYi Zen Hei"/>
              </a:rPr>
              <a:t>预期效果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5440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FFFFFF"/>
                </a:solidFill>
                <a:latin typeface="WenQuanYi Zen Hei"/>
              </a:rPr>
              <a:t>把“盲目试错”变成
可解释、可复现的候选收敛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2176272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17627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WenQuanYi Zen 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304" y="2157984"/>
            <a:ext cx="13350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WenQuanYi Zen Hei"/>
              </a:rPr>
              <a:t>更少浪费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148840"/>
            <a:ext cx="31363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C7DBEB"/>
                </a:solidFill>
                <a:latin typeface="WenQuanYi Zen Hei"/>
              </a:rPr>
              <a:t>先批量规划和几何筛选，再把计算预算给更有价值的候选。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05409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3054096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WenQuanYi Zen 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3035808"/>
            <a:ext cx="13350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WenQuanYi Zen Hei"/>
              </a:rPr>
              <a:t>更易解释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026664"/>
            <a:ext cx="31363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C7DBEB"/>
                </a:solidFill>
                <a:latin typeface="WenQuanYi Zen Hei"/>
              </a:rPr>
              <a:t>每个候选都能追溯到位点、片段、假设、pose 与相互作用变化。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3931920"/>
            <a:ext cx="420624" cy="420624"/>
          </a:xfrm>
          <a:prstGeom prst="ellipse">
            <a:avLst/>
          </a:prstGeom>
          <a:solidFill>
            <a:srgbClr val="F2A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9319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WenQuanYi Zen 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9304" y="3913632"/>
            <a:ext cx="13350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WenQuanYi Zen Hei"/>
              </a:rPr>
              <a:t>更可复现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904487"/>
            <a:ext cx="313639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C7DBEB"/>
                </a:solidFill>
                <a:latin typeface="WenQuanYi Zen Hei"/>
              </a:rPr>
              <a:t>固定参考、固定 seeds、完整日志，避免只展示一次“好看的分数”。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020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A33A"/>
                </a:solidFill>
                <a:latin typeface="WenQuanYi Zen Hei"/>
              </a:rPr>
              <a:t>下一步验证</a:t>
            </a:r>
          </a:p>
        </p:txBody>
      </p:sp>
      <p:sp>
        <p:nvSpPr>
          <p:cNvPr id="20" name="Oval 19"/>
          <p:cNvSpPr/>
          <p:nvPr/>
        </p:nvSpPr>
        <p:spPr>
          <a:xfrm>
            <a:off x="722376" y="5413248"/>
            <a:ext cx="109728" cy="109728"/>
          </a:xfrm>
          <a:prstGeom prst="ellipse">
            <a:avLst/>
          </a:prstGeom>
          <a:solidFill>
            <a:srgbClr val="AAD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5340096"/>
            <a:ext cx="4965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FFFFFF"/>
                </a:solidFill>
                <a:latin typeface="WenQuanYi Zen Hei"/>
              </a:rPr>
              <a:t>多随机种子、多个模型与 score-guided baseline 的重复实验</a:t>
            </a:r>
          </a:p>
        </p:txBody>
      </p:sp>
      <p:sp>
        <p:nvSpPr>
          <p:cNvPr id="22" name="Oval 21"/>
          <p:cNvSpPr/>
          <p:nvPr/>
        </p:nvSpPr>
        <p:spPr>
          <a:xfrm>
            <a:off x="722376" y="5724144"/>
            <a:ext cx="109728" cy="109728"/>
          </a:xfrm>
          <a:prstGeom prst="ellipse">
            <a:avLst/>
          </a:prstGeom>
          <a:solidFill>
            <a:srgbClr val="AAD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" y="5650992"/>
            <a:ext cx="4965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FFFFFF"/>
                </a:solidFill>
                <a:latin typeface="WenQuanYi Zen Hei"/>
              </a:rPr>
              <a:t>更可靠的局部 docking / RBFE 与不确定性分析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" y="6035040"/>
            <a:ext cx="109728" cy="109728"/>
          </a:xfrm>
          <a:prstGeom prst="ellipse">
            <a:avLst/>
          </a:prstGeom>
          <a:solidFill>
            <a:srgbClr val="AAD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961888"/>
            <a:ext cx="4965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FFFFFF"/>
                </a:solidFill>
                <a:latin typeface="WenQuanYi Zen Hei"/>
              </a:rPr>
              <a:t>对优先候选进行合成与湿实验验证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22592" y="5184648"/>
            <a:ext cx="4370832" cy="941832"/>
          </a:xfrm>
          <a:prstGeom prst="roundRect">
            <a:avLst/>
          </a:prstGeom>
          <a:solidFill>
            <a:srgbClr val="05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6912" y="5358384"/>
            <a:ext cx="38221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A33A"/>
                </a:solidFill>
                <a:latin typeface="WenQuanYi Zen Hei"/>
              </a:rPr>
              <a:t>最终交付物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6912" y="5650992"/>
            <a:ext cx="382219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FFFFFF"/>
                </a:solidFill>
                <a:latin typeface="WenQuanYi Zen Hei"/>
              </a:rPr>
              <a:t>稳定、可解释的候选清单，而不是“自动证明的新药”。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2881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92A8BE"/>
                </a:solidFill>
                <a:latin typeface="WenQuanYi Zen Hei"/>
              </a:rPr>
              <a:t>一句话总结：让 LLM 负责“想”，让确定性化学与结构工具负责“验”。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92240"/>
            <a:ext cx="347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92A8BE"/>
                </a:solidFill>
                <a:latin typeface="WenQuanYi Zen He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保留骨架、口袋条件化的分子优化智能体</dc:title>
  <dc:subject>科研汇报：项目问题、框架、架构、当前进展与预期效果</dc:subject>
  <dc:creator>Simple Molecular Agent 项目</dc:creator>
  <cp:keywords/>
  <dc:description>由项目工作区资料与 image-gen 生成的视觉资产自动构建。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