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封面。系统解析共晶结构，恢复配体分子图、口袋残基与相互作用、合法位点，并把任务、片段库与 Playwright MCP 的一次性外部检索结果组装为结构化上下文；LLM 在该上下文下提出改造思路，系统完成候选构建与化学/几何校验，随后做 docking 与 RBFE 计算，结果回写并更新上下文，驱动下一轮搜索。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本页是整体主流程，只保留关键阶段与一条反馈回路。</a:t>
            </a:r>
          </a:p>
          <a:p>
            <a:r>
              <a:t>输入与上下文：任务与优化目标、完整共晶复合物 PDB、以及可选的 Playwright MCP 一次性外部检索（结构页面、截图与来源）。系统解析 PDB，恢复配体分子图、口袋残基与相互作用、合法位点，并结合片段库组装为结构化上下文；原始坐标与全部片段记录不直接发送给模型，只发送有界摘要。</a:t>
            </a:r>
          </a:p>
          <a:p>
            <a:r>
              <a:t>提出思路：LLM 在结构化上下文下提出改造思路（改哪个位点、接什么片段、依据与风险）。</a:t>
            </a:r>
          </a:p>
          <a:p>
            <a:r>
              <a:t>构建与校验：系统精确执行分子图编辑，完成价态/电荷、碰撞、去重与几何校验。</a:t>
            </a:r>
          </a:p>
          <a:p>
            <a:r>
              <a:t>计算：几何通过者先做 screening docking（多 seed、与参考配体同 seed 配对，并分析相互作用），少量 finalist 再做更高精度的 RBFE 计算。</a:t>
            </a:r>
          </a:p>
          <a:p>
            <a:r>
              <a:t>反馈与输出：docking 与 RBFE 的结果（分数、pose、相互作用、失败原因）回写并更新结构化上下文，驱动 LLM 的下一轮思路；满足停止条件后输出最佳候选与完整审计。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" y="1847088"/>
            <a:ext cx="91440" cy="1481328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71323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simple_molecular_agent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700784"/>
            <a:ext cx="73152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3600" b="1">
                <a:solidFill>
                  <a:srgbClr val="204867"/>
                </a:solidFill>
                <a:latin typeface="Microsoft YaHei"/>
                <a:ea typeface="Microsoft YaHei"/>
              </a:rPr>
              <a:t>保留骨架的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36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40156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900" b="1">
                <a:solidFill>
                  <a:srgbClr val="158C99"/>
                </a:solidFill>
                <a:latin typeface="Microsoft YaHei"/>
                <a:ea typeface="Microsoft YaHei"/>
              </a:rPr>
              <a:t>LLM 提出改造思路 · 系统与计算工具把关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133087"/>
            <a:ext cx="6309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以真实共晶结构为起点，系统组装结构化上下文，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提出思路，docking 与 RBFE 结果回写并迭代。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577900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33488" y="868680"/>
            <a:ext cx="0" cy="512064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882127" y="15727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>
                <a:solidFill>
                  <a:srgbClr val="204867"/>
                </a:solidFill>
                <a:latin typeface="Microsoft YaHei"/>
                <a:ea typeface="Microsoft YaHei"/>
              </a:rPr>
              <a:t>主流程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2103120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任务 + 共晶复合物 PDB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系统解析结构 · 组装上下文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Playwright MCP 外部检索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3145536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LLM 提出改造思路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系统构建候选并校验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docking + RBFE 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4187952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结果回写，更新结构化上下文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输出最佳候选 + 完整审计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55664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566928" y="6574536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simple_molecular_agent · 从完整共晶复合物出发的闭环分子优化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19672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74320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主流程  /  MAIN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585216"/>
            <a:ext cx="110002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从结构化上下文到候选输出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07008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Oval 4"/>
          <p:cNvSpPr/>
          <p:nvPr/>
        </p:nvSpPr>
        <p:spPr>
          <a:xfrm>
            <a:off x="658368" y="1417320"/>
            <a:ext cx="173736" cy="173736"/>
          </a:xfrm>
          <a:prstGeom prst="ellipse">
            <a:avLst/>
          </a:prstGeom>
          <a:solidFill>
            <a:srgbClr val="D9E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输入 / 结构化上下文</a:t>
            </a:r>
          </a:p>
        </p:txBody>
      </p:sp>
      <p:sp>
        <p:nvSpPr>
          <p:cNvPr id="7" name="Oval 6"/>
          <p:cNvSpPr/>
          <p:nvPr/>
        </p:nvSpPr>
        <p:spPr>
          <a:xfrm>
            <a:off x="3419856" y="1417320"/>
            <a:ext cx="173736" cy="173736"/>
          </a:xfrm>
          <a:prstGeom prst="ellipse">
            <a:avLst/>
          </a:prstGeom>
          <a:solidFill>
            <a:srgbClr val="CFE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系统：解析、构建与校验</a:t>
            </a:r>
          </a:p>
        </p:txBody>
      </p:sp>
      <p:sp>
        <p:nvSpPr>
          <p:cNvPr id="9" name="Oval 8"/>
          <p:cNvSpPr/>
          <p:nvPr/>
        </p:nvSpPr>
        <p:spPr>
          <a:xfrm>
            <a:off x="6181344" y="1417320"/>
            <a:ext cx="173736" cy="173736"/>
          </a:xfrm>
          <a:prstGeom prst="ellipse">
            <a:avLst/>
          </a:prstGeom>
          <a:solidFill>
            <a:srgbClr val="B9E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LLM：提出改造思路</a:t>
            </a:r>
          </a:p>
        </p:txBody>
      </p:sp>
      <p:sp>
        <p:nvSpPr>
          <p:cNvPr id="11" name="Oval 10"/>
          <p:cNvSpPr/>
          <p:nvPr/>
        </p:nvSpPr>
        <p:spPr>
          <a:xfrm>
            <a:off x="8942832" y="1417320"/>
            <a:ext cx="173736" cy="173736"/>
          </a:xfrm>
          <a:prstGeom prst="ellipse">
            <a:avLst/>
          </a:prstGeom>
          <a:solidFill>
            <a:srgbClr val="F7D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8864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计算：docking / RBFE</a:t>
            </a:r>
          </a:p>
        </p:txBody>
      </p:sp>
      <p:pic>
        <p:nvPicPr>
          <p:cNvPr id="13" name="Mermaid SVG — main_flow" descr="main_flow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6722" y="1810512"/>
            <a:ext cx="7815507" cy="41980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6145715"/>
            <a:ext cx="10543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6D8292"/>
                </a:solidFill>
                <a:latin typeface="Microsoft YaHei"/>
                <a:ea typeface="Microsoft YaHei"/>
              </a:rPr>
              <a:t>结构化上下文包含：任务与目标 · 配体分子图 · 口袋与相互作用 · 合法位点 · 片段库 · 外部检索摘要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55664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66928" y="6574536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流程来源：README.md / workflow.mmd；图为 Mermaid 渲染，源文件 assets/ppt_mainflow/mermaid/main_flow.mmd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519672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保留骨架的分子优化智能体 · 主流程（修订版2）</dc:title>
  <dc:subject>simple_molecular_agent 主流程 Mermaid 流程图：结构化上下文、LLM 思路、docking 与 RBFE、反馈更新上下文</dc:subject>
  <dc:creator>黄婉仪</dc:creator>
  <cp:keywords/>
  <dc:description>Mermaid main-flow diagram embedded as SVG with PNG fallback; .mmd source supplied.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