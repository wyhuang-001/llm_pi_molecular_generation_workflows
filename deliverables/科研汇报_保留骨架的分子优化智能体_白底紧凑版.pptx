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参考“近期工作进展.pptx”的白底蓝色标题风格。封面图由 image-gen 扩展生成，只用于概念说明，不代表真实蛋白/配体几何。研究数据沿用原汇报的 2026-09-27 运行快照。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保留原版三项核心挑战，去掉钥匙配锁插图、圆角卡片和装饰边框。此页不是对实验活性或临床效果的声明。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此图为项目总体逻辑，刻意省略请求类型、缓存、工具内部模块等细节。候选规划在总体框架支持批量；本次闭集 benchmark 是固定 C6 位点、逐候选提交，不宣称本次运行即为完整批量规划实验。当前主流程到 docking，RBFE 尚不是本次结果。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分子图来源：runs/4wkq-llm-20260927-193317/reference-ligand.sdf 与 candidate-06.sdf。保留原子集合来自 result.json 中 replacement_site.retained_atom_indices，21 个重原子。使用固定核心图匹配统一二维方向；颜色仅表示图编辑区域，不表示对接姿态或实验活性。候选 #06 为此运行按稳定性资格与质量函数筛出的最佳。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闭集协议的关键限定：initial_receptor_clash_policy=defer_to_docking；初始碰撞不作为最终硬拒绝证据。最终 heavy-atom overlap ≤0.55 Å；固定核心 RMSD 阈值 2.0 Å，最大核心位移 3.0 Å，关键 MET:A:793 氢键锚点；至少 2/3 seed 同一 pose family。主评分 minimizedAffinity，配对 reference seed；稳定性资格与最终排序以 result.json 实际实现为准。避免将几何预筛描述为本轮全部候选初始碰撞均已通过。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数据直接读取运行文件，不重新计算或挑选最新运行。LLM：runs/4wkq-llm-20260927-193317/result.json；Random：runs/4wkq-random-baseline-v1/result.json。78/78 来自 4WKQ/benchmark-private/construction-audit-v2/construction-audit.json 和 BENCHMARK_RUNNING.md 的构建审计结论，非所有初始构象无碰撞。20/20 为候选层 pose retention 通过，不是全部 seed 逐一均通过。16/20 为 stability_eligible。图中 Δ 是合格配对 seed 的 minimizedAffinity 平均差，不是实验自由能。Best 按原程序的资格与质量函数选定，不是任意挑选。脚注 BENCHMARK_RUNNING.md 的“尚未启动付费LLM”段落已滞后，因此以实际 result.json 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RBFE、更高精度自由能计算、合成和湿实验属于下一步，不是已经完成的结果。当前内容忠实沿用原汇报的数据快照与结论边界。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科研汇报  /  近期工作进展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保留骨架的分子优化智能体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结合蛋白口袋信息，让大语言模型提出可验证的局部改造方案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56816"/>
            <a:ext cx="67665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123D79"/>
                </a:solidFill>
                <a:latin typeface="Microsoft YaHei"/>
                <a:ea typeface="Microsoft YaHei"/>
              </a:rPr>
              <a:t>LLM 提假设，计算工具做验证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770632"/>
            <a:ext cx="57607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26384A"/>
                </a:solidFill>
                <a:latin typeface="Microsoft YaHei"/>
                <a:ea typeface="Microsoft YaHei"/>
              </a:rPr>
              <a:t>以共晶配体为起点，只改允许的侧链；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26384A"/>
                </a:solidFill>
                <a:latin typeface="Microsoft YaHei"/>
                <a:ea typeface="Microsoft YaHei"/>
              </a:rPr>
              <a:t>用结构、对接与多 seed 反馈逐步筛选。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12618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29CB0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89534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84A"/>
                </a:solidFill>
                <a:latin typeface="Microsoft YaHei"/>
                <a:ea typeface="Microsoft YaHei"/>
              </a:rPr>
              <a:t>在有限预算内，筛出可信的候选分子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3"/>
            <a:ext cx="12618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29CB0"/>
                </a:solidFill>
                <a:latin typeface="Microsoft YaHei"/>
                <a:ea typeface="Microsoft YaHei"/>
              </a:rPr>
              <a:t>关键约束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4443983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84A"/>
                </a:solidFill>
                <a:latin typeface="Microsoft YaHei"/>
                <a:ea typeface="Microsoft YaHei"/>
              </a:rPr>
              <a:t>骨架不变、姿态保留、过程可追溯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92624"/>
            <a:ext cx="12618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29CB0"/>
                </a:solidFill>
                <a:latin typeface="Microsoft YaHei"/>
                <a:ea typeface="Microsoft YaHei"/>
              </a:rPr>
              <a:t>当前阶段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499262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84A"/>
                </a:solidFill>
                <a:latin typeface="Microsoft YaHei"/>
                <a:ea typeface="Microsoft YaHei"/>
              </a:rPr>
              <a:t>4WKQ–EGFR / gefitinib 闭集验证</a:t>
            </a:r>
          </a:p>
        </p:txBody>
      </p:sp>
      <p:pic>
        <p:nvPicPr>
          <p:cNvPr id="18" name="Picture 17" descr="molecular_agent_whit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5" y="1847088"/>
            <a:ext cx="4105656" cy="41056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43216" y="5916168"/>
            <a:ext cx="3950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57789"/>
                </a:solidFill>
                <a:latin typeface="Microsoft YaHei"/>
                <a:ea typeface="Microsoft YaHei"/>
              </a:rPr>
              <a:t>概念示意图，非 4WKQ 实际结构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25312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789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01  /  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分子优化：既要改得动，也要验证改得对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真正的问题不是“生成一个分子”，而是在结构约束下有效分配计算预算。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84248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优化中的困难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84248"/>
            <a:ext cx="4892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9CB0"/>
                </a:solidFill>
                <a:latin typeface="Microsoft YaHei"/>
                <a:ea typeface="Microsoft YaHei"/>
              </a:rPr>
              <a:t>本项目的处理方式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6384A"/>
                </a:solidFill>
                <a:latin typeface="Microsoft YaHei"/>
                <a:ea typeface="Microsoft YaHei"/>
              </a:rPr>
              <a:t>选择空间大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6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侧链很多，逐一构建与对接成本高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2944368"/>
            <a:ext cx="43891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65392" y="2633472"/>
            <a:ext cx="4910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受控候选规划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08376"/>
            <a:ext cx="48920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84A"/>
                </a:solidFill>
                <a:latin typeface="Microsoft YaHei"/>
                <a:ea typeface="Microsoft YaHei"/>
              </a:rPr>
              <a:t>在合法位点与片段库内提出可检验假设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429000"/>
            <a:ext cx="1078077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3575304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6384A"/>
                </a:solidFill>
                <a:latin typeface="Microsoft YaHei"/>
                <a:ea typeface="Microsoft YaHei"/>
              </a:rPr>
              <a:t>化学合法 ≠ 结合可靠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5020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能接上，不代表放得进或方向正确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886200"/>
            <a:ext cx="43891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565392" y="3575304"/>
            <a:ext cx="4910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保留骨架与结合姿态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950208"/>
            <a:ext cx="48920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84A"/>
                </a:solidFill>
                <a:latin typeface="Microsoft YaHei"/>
                <a:ea typeface="Microsoft YaHei"/>
              </a:rPr>
              <a:t>将分子图校验、口袋与锚点检查结合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370832"/>
            <a:ext cx="1078077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4517136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26384A"/>
                </a:solidFill>
                <a:latin typeface="Microsoft YaHei"/>
                <a:ea typeface="Microsoft YaHei"/>
              </a:rPr>
              <a:t>单次评分不稳定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随机 seed 与 pose 差异会改变排序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4828031"/>
            <a:ext cx="43891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565392" y="4517136"/>
            <a:ext cx="49103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多 seed 配对比较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892040"/>
            <a:ext cx="48920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84A"/>
                </a:solidFill>
                <a:latin typeface="Microsoft YaHei"/>
                <a:ea typeface="Microsoft YaHei"/>
              </a:rPr>
              <a:t>固定参考与协议，同时考虑改善和稳定性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751576"/>
            <a:ext cx="41148" cy="4206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76986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123D79"/>
                </a:solidFill>
                <a:latin typeface="Microsoft YaHei"/>
                <a:ea typeface="Microsoft YaHei"/>
              </a:rPr>
              <a:t>研究边界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5774436"/>
            <a:ext cx="9509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26384A"/>
                </a:solidFill>
                <a:latin typeface="Microsoft YaHei"/>
                <a:ea typeface="Microsoft YaHei"/>
              </a:rPr>
              <a:t>做计算筛选与排序，不把 docking 改善等同于实验活性提升。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02  /  总体流程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总体框架：从结构输入到反馈更新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LLM 负责选择尝试方向；Host（宿主程序）执行化学、结构与对接验证。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Oval 9"/>
          <p:cNvSpPr/>
          <p:nvPr/>
        </p:nvSpPr>
        <p:spPr>
          <a:xfrm>
            <a:off x="1239012" y="2075688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9012" y="21168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68833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结构输入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004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共晶复合物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允许位点与片段库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10512" y="2286000"/>
            <a:ext cx="1591056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15" name="Oval 14"/>
          <p:cNvSpPr/>
          <p:nvPr/>
        </p:nvSpPr>
        <p:spPr>
          <a:xfrm>
            <a:off x="3561588" y="2075688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1588" y="21168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68833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候选规划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2004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结合口袋信息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提出侧链编辑假设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33088" y="2286000"/>
            <a:ext cx="1591056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0" name="Oval 19"/>
          <p:cNvSpPr/>
          <p:nvPr/>
        </p:nvSpPr>
        <p:spPr>
          <a:xfrm>
            <a:off x="5884164" y="2075688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4164" y="21168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68833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构建验证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2004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精确分子图编辑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化学与几何检查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55664" y="2286000"/>
            <a:ext cx="1591055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5" name="Oval 24"/>
          <p:cNvSpPr/>
          <p:nvPr/>
        </p:nvSpPr>
        <p:spPr>
          <a:xfrm>
            <a:off x="8206740" y="2075688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6740" y="21168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68833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对接评价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004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GNINA / PLIP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姿态与多 seed 验证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2286000"/>
            <a:ext cx="1591056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30" name="Oval 29"/>
          <p:cNvSpPr/>
          <p:nvPr/>
        </p:nvSpPr>
        <p:spPr>
          <a:xfrm>
            <a:off x="10529316" y="2075688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29316" y="21168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2688336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反馈更新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32004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汇总有效与无效改动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输出历史最佳候选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35056" y="3904487"/>
            <a:ext cx="0" cy="347473"/>
          </a:xfrm>
          <a:prstGeom prst="line">
            <a:avLst/>
          </a:prstGeom>
          <a:ln w="20320">
            <a:solidFill>
              <a:srgbClr val="129CB0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3767328" y="4251960"/>
            <a:ext cx="6967728" cy="0"/>
          </a:xfrm>
          <a:prstGeom prst="line">
            <a:avLst/>
          </a:prstGeom>
          <a:ln w="20320">
            <a:solidFill>
              <a:srgbClr val="129CB0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3767328" y="3867912"/>
            <a:ext cx="0" cy="384048"/>
          </a:xfrm>
          <a:prstGeom prst="line">
            <a:avLst/>
          </a:prstGeom>
          <a:ln w="2032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577840" y="4087368"/>
            <a:ext cx="3593592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05272" y="4105656"/>
            <a:ext cx="35387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1">
                <a:solidFill>
                  <a:srgbClr val="129CB0"/>
                </a:solidFill>
                <a:latin typeface="Microsoft YaHei"/>
                <a:ea typeface="Microsoft YaHei"/>
              </a:rPr>
              <a:t>分数、姿态与失败原因 → 下一轮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718304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输入有约束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13892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固定骨架、合法切口、有限预算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4718304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执行可验证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128" y="513892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不由模型直接给出结构与分数结论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718304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输出可追溯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138928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候选结构、相互作用与运行记录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5843016"/>
            <a:ext cx="41148" cy="4206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861303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123D79"/>
                </a:solidFill>
                <a:latin typeface="Microsoft YaHei"/>
                <a:ea typeface="Microsoft YaHei"/>
              </a:rPr>
              <a:t>闭环要点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0824" y="5865876"/>
            <a:ext cx="9509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26384A"/>
                </a:solidFill>
                <a:latin typeface="Microsoft YaHei"/>
                <a:ea typeface="Microsoft YaHei"/>
              </a:rPr>
              <a:t>只在验证结果支持时更新候选，而不是接受模型的文字判断。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03  /  重点流程一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单点编辑：保留骨架，只替换允许的侧链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4WKQ 示例：固定 C6 切口，在 78 条匿名侧链中选择；不做无约束骨架跳跃。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7"/>
            <a:ext cx="435254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原始配体  /  gefitinib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1892807"/>
            <a:ext cx="445312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候选 #06  /  本次运行最佳</a:t>
            </a:r>
          </a:p>
        </p:txBody>
      </p:sp>
      <p:pic>
        <p:nvPicPr>
          <p:cNvPr id="12" name="Picture 11" descr="reference_lig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35" y="2221992"/>
            <a:ext cx="4315521" cy="2359152"/>
          </a:xfrm>
          <a:prstGeom prst="rect">
            <a:avLst/>
          </a:prstGeom>
        </p:spPr>
      </p:pic>
      <p:pic>
        <p:nvPicPr>
          <p:cNvPr id="13" name="Picture 12" descr="candidat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39" y="2221992"/>
            <a:ext cx="4315521" cy="23591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80" y="2871216"/>
            <a:ext cx="1709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9CB0"/>
                </a:solidFill>
                <a:latin typeface="Microsoft YaHei"/>
                <a:ea typeface="Microsoft YaHei"/>
              </a:rPr>
              <a:t>侧链替换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3502152"/>
            <a:ext cx="1691640" cy="0"/>
          </a:xfrm>
          <a:prstGeom prst="line">
            <a:avLst/>
          </a:prstGeom>
          <a:ln w="2540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230368" y="3730752"/>
            <a:ext cx="16733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57789"/>
                </a:solidFill>
                <a:latin typeface="Microsoft YaHei"/>
                <a:ea typeface="Microsoft YaHei"/>
              </a:rPr>
              <a:t>21 个核心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57789"/>
                </a:solidFill>
                <a:latin typeface="Microsoft YaHei"/>
                <a:ea typeface="Microsoft YaHei"/>
              </a:rPr>
              <a:t>重原子保留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636008"/>
            <a:ext cx="128016" cy="128016"/>
          </a:xfrm>
          <a:prstGeom prst="ellipse">
            <a:avLst/>
          </a:prstGeom>
          <a:solidFill>
            <a:srgbClr val="AE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72000"/>
            <a:ext cx="307238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57789"/>
                </a:solidFill>
                <a:latin typeface="Microsoft YaHei"/>
                <a:ea typeface="Microsoft YaHei"/>
              </a:rPr>
              <a:t>浅蓝：固定核心</a:t>
            </a:r>
          </a:p>
        </p:txBody>
      </p:sp>
      <p:sp>
        <p:nvSpPr>
          <p:cNvPr id="19" name="Oval 18"/>
          <p:cNvSpPr/>
          <p:nvPr/>
        </p:nvSpPr>
        <p:spPr>
          <a:xfrm>
            <a:off x="4059936" y="4636008"/>
            <a:ext cx="128016" cy="128016"/>
          </a:xfrm>
          <a:prstGeom prst="ellipse">
            <a:avLst/>
          </a:prstGeom>
          <a:solidFill>
            <a:srgbClr val="FFCB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4572000"/>
            <a:ext cx="5943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57789"/>
                </a:solidFill>
                <a:latin typeface="Microsoft YaHei"/>
                <a:ea typeface="Microsoft YaHei"/>
              </a:rPr>
              <a:t>浅橙：原侧链 / 替换侧链；结构来自实际 SDF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" y="5166360"/>
            <a:ext cx="241401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确定合法切口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16936" y="5330952"/>
            <a:ext cx="493776" cy="0"/>
          </a:xfrm>
          <a:prstGeom prst="line">
            <a:avLst/>
          </a:prstGeom>
          <a:ln w="2159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438144" y="5166360"/>
            <a:ext cx="241401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选择库内片段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9864" y="5330952"/>
            <a:ext cx="521208" cy="0"/>
          </a:xfrm>
          <a:prstGeom prst="line">
            <a:avLst/>
          </a:prstGeom>
          <a:ln w="2159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318504" y="5166360"/>
            <a:ext cx="241401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Host 精确组装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50224" y="5330952"/>
            <a:ext cx="521208" cy="0"/>
          </a:xfrm>
          <a:prstGeom prst="line">
            <a:avLst/>
          </a:prstGeom>
          <a:ln w="2159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198864" y="5166360"/>
            <a:ext cx="241401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校验结构身份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5815584"/>
            <a:ext cx="41148" cy="4206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833872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123D79"/>
                </a:solidFill>
                <a:latin typeface="Microsoft YaHei"/>
                <a:ea typeface="Microsoft YaHei"/>
              </a:rPr>
              <a:t>控制原则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0824" y="5838444"/>
            <a:ext cx="9509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26384A"/>
                </a:solidFill>
                <a:latin typeface="Microsoft YaHei"/>
                <a:ea typeface="Microsoft YaHei"/>
              </a:rPr>
              <a:t>LLM 选择“改哪里、接什么”；Host 决定“是否构建正确”。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04  /  重点流程二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候选验证：先确认姿态可信，再比较分数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参考配体先校准；候选沿同一协议评价，避免仅凭一次低分就接受。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0" name="Oval 9"/>
          <p:cNvSpPr/>
          <p:nvPr/>
        </p:nvSpPr>
        <p:spPr>
          <a:xfrm>
            <a:off x="1485900" y="2048256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5900" y="20894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" y="2660904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化学构建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" y="317296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价态、电荷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结构身份与重复检查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84832" y="2258568"/>
            <a:ext cx="213055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15" name="Oval 14"/>
          <p:cNvSpPr/>
          <p:nvPr/>
        </p:nvSpPr>
        <p:spPr>
          <a:xfrm>
            <a:off x="4402836" y="2048256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2836" y="20894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6" y="2660904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对接搜索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2716" y="317296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固定参考与协议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多个 seed 搜索姿态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1768" y="2258568"/>
            <a:ext cx="213055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0" name="Oval 19"/>
          <p:cNvSpPr/>
          <p:nvPr/>
        </p:nvSpPr>
        <p:spPr>
          <a:xfrm>
            <a:off x="7319772" y="2048256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772" y="20894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9652" y="2660904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姿态门控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17296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核心 RMSD、碰撞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关键氢键锚点保留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18704" y="2258568"/>
            <a:ext cx="2130552" cy="0"/>
          </a:xfrm>
          <a:prstGeom prst="line">
            <a:avLst/>
          </a:prstGeom>
          <a:ln w="22860">
            <a:solidFill>
              <a:srgbClr val="129CB0"/>
            </a:solidFill>
            <a:tailEnd type="triangle" w="sm" len="sm"/>
          </a:ln>
          <a:effectLst/>
        </p:spPr>
      </p:cxnSp>
      <p:sp>
        <p:nvSpPr>
          <p:cNvPr id="25" name="Oval 24"/>
          <p:cNvSpPr/>
          <p:nvPr/>
        </p:nvSpPr>
        <p:spPr>
          <a:xfrm>
            <a:off x="10236708" y="2048256"/>
            <a:ext cx="411480" cy="411480"/>
          </a:xfrm>
          <a:prstGeom prst="ellipse">
            <a:avLst/>
          </a:prstGeom>
          <a:solidFill>
            <a:srgbClr val="EAF7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36708" y="20894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29CB0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6588" y="2660904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3D79"/>
                </a:solidFill>
                <a:latin typeface="Microsoft YaHei"/>
                <a:ea typeface="Microsoft YaHei"/>
              </a:rPr>
              <a:t>稳定性筛选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6588" y="317296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配对分数与 seed 一致性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789"/>
                </a:solidFill>
                <a:latin typeface="Microsoft YaHei"/>
                <a:ea typeface="Microsoft YaHei"/>
              </a:rPr>
              <a:t>更新历史最佳候选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087368"/>
            <a:ext cx="10817352" cy="0"/>
          </a:xfrm>
          <a:prstGeom prst="line">
            <a:avLst/>
          </a:prstGeom>
          <a:ln w="11430">
            <a:solidFill>
              <a:srgbClr val="D9E5ED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694944" y="43708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失败也要保留原因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4988052"/>
            <a:ext cx="73152" cy="73152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92040"/>
            <a:ext cx="493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84A"/>
                </a:solidFill>
                <a:latin typeface="Microsoft YaHei"/>
                <a:ea typeface="Microsoft YaHei"/>
              </a:rPr>
              <a:t>构建或最终姿态不合格，不进入最佳候选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" y="5463540"/>
            <a:ext cx="73152" cy="73152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67528"/>
            <a:ext cx="493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84A"/>
                </a:solidFill>
                <a:latin typeface="Microsoft YaHei"/>
                <a:ea typeface="Microsoft YaHei"/>
              </a:rPr>
              <a:t>失败记录回到下一轮，避免重复无效尝试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3708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本次闭集 benchmark 的几何规则</a:t>
            </a:r>
          </a:p>
        </p:txBody>
      </p:sp>
      <p:sp>
        <p:nvSpPr>
          <p:cNvPr id="36" name="Oval 35"/>
          <p:cNvSpPr/>
          <p:nvPr/>
        </p:nvSpPr>
        <p:spPr>
          <a:xfrm>
            <a:off x="6464808" y="4988052"/>
            <a:ext cx="73152" cy="73152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892040"/>
            <a:ext cx="4864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84A"/>
                </a:solidFill>
                <a:latin typeface="Microsoft YaHei"/>
                <a:ea typeface="Microsoft YaHei"/>
              </a:rPr>
              <a:t>初始碰撞仅作诊断，允许 docking 搜索</a:t>
            </a:r>
          </a:p>
        </p:txBody>
      </p:sp>
      <p:sp>
        <p:nvSpPr>
          <p:cNvPr id="38" name="Oval 37"/>
          <p:cNvSpPr/>
          <p:nvPr/>
        </p:nvSpPr>
        <p:spPr>
          <a:xfrm>
            <a:off x="6464808" y="5463540"/>
            <a:ext cx="73152" cy="73152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47688" y="5367528"/>
            <a:ext cx="4864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84A"/>
                </a:solidFill>
                <a:latin typeface="Microsoft YaHei"/>
                <a:ea typeface="Microsoft YaHei"/>
              </a:rPr>
              <a:t>最终 pose 必须通过硬碰撞与姿态检查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925312"/>
            <a:ext cx="41148" cy="4206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943600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123D79"/>
                </a:solidFill>
                <a:latin typeface="Microsoft YaHei"/>
                <a:ea typeface="Microsoft YaHei"/>
              </a:rPr>
              <a:t>评价原则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0824" y="5948172"/>
            <a:ext cx="9509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26384A"/>
                </a:solidFill>
                <a:latin typeface="Microsoft YaHei"/>
                <a:ea typeface="Microsoft YaHei"/>
              </a:rPr>
              <a:t>更低的 docking 分数 ≠ 可靠结合，更不等于实验活性已提升。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05  /  当前进展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链路已跑通；尚不能宣称 LLM 优于基线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4WKQ–EGFR / gefitinib：78 条固定侧链，每次运行最多提出 20 个候选。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数据：LLM run 20260927-193317；random-baseline-v1；原配体 calibration.json（沿用原汇报快照）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9CB0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27066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384A"/>
                </a:solidFill>
                <a:latin typeface="Microsoft YaHei"/>
                <a:ea typeface="Microsoft YaHei"/>
              </a:rPr>
              <a:t>参考配体 seed 校准通过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1956816"/>
            <a:ext cx="0" cy="704088"/>
          </a:xfrm>
          <a:prstGeom prst="line">
            <a:avLst/>
          </a:prstGeom>
          <a:ln w="10160">
            <a:solidFill>
              <a:srgbClr val="D9E5ED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520439" y="192024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9CB0"/>
                </a:solidFill>
                <a:latin typeface="Microsoft YaHei"/>
                <a:ea typeface="Microsoft YaHei"/>
              </a:rPr>
              <a:t>78 / 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441448"/>
            <a:ext cx="27066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384A"/>
                </a:solidFill>
                <a:latin typeface="Microsoft YaHei"/>
                <a:ea typeface="Microsoft YaHei"/>
              </a:rPr>
              <a:t>匿名侧链可正确构建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8192" y="1956816"/>
            <a:ext cx="0" cy="704088"/>
          </a:xfrm>
          <a:prstGeom prst="line">
            <a:avLst/>
          </a:prstGeom>
          <a:ln w="10160">
            <a:solidFill>
              <a:srgbClr val="D9E5ED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382512" y="192024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41448"/>
            <a:ext cx="27066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384A"/>
                </a:solidFill>
                <a:latin typeface="Microsoft YaHei"/>
                <a:ea typeface="Microsoft YaHei"/>
              </a:rPr>
              <a:t>LLM 候选通过姿态门控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70263" y="1956816"/>
            <a:ext cx="0" cy="704088"/>
          </a:xfrm>
          <a:prstGeom prst="line">
            <a:avLst/>
          </a:prstGeom>
          <a:ln w="10160">
            <a:solidFill>
              <a:srgbClr val="D9E5ED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244584" y="192024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9CB0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441448"/>
            <a:ext cx="27066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384A"/>
                </a:solidFill>
                <a:latin typeface="Microsoft YaHei"/>
                <a:ea typeface="Microsoft YaHei"/>
              </a:rPr>
              <a:t>LLM 候选具稳定性资格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" y="2916936"/>
            <a:ext cx="10844784" cy="0"/>
          </a:xfrm>
          <a:prstGeom prst="line">
            <a:avLst/>
          </a:prstGeom>
          <a:ln w="10795">
            <a:solidFill>
              <a:srgbClr val="D9E5ED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85800" y="3118104"/>
            <a:ext cx="335584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参考校准：核心 RMSD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47872"/>
            <a:ext cx="33741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57789"/>
                </a:solidFill>
                <a:latin typeface="Microsoft YaHei"/>
                <a:ea typeface="Microsoft YaHei"/>
              </a:rPr>
              <a:t>3 个 seed 均低于 2.0 Å 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05536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789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28516"/>
            <a:ext cx="1600200" cy="100584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0160" y="4128516"/>
            <a:ext cx="1116813" cy="10058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32965" y="4114800"/>
            <a:ext cx="128016" cy="128016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4041648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23D79"/>
                </a:solidFill>
                <a:latin typeface="Microsoft YaHei"/>
                <a:ea typeface="Microsoft YaHei"/>
              </a:rPr>
              <a:t>0.349 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485132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789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4558284"/>
            <a:ext cx="1600200" cy="100584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80160" y="4558284"/>
            <a:ext cx="951697" cy="10058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67849" y="4544568"/>
            <a:ext cx="128016" cy="128016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4471416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23D79"/>
                </a:solidFill>
                <a:latin typeface="Microsoft YaHei"/>
                <a:ea typeface="Microsoft YaHei"/>
              </a:rPr>
              <a:t>0.297 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91490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789"/>
                </a:solidFill>
                <a:latin typeface="Microsoft YaHei"/>
                <a:ea typeface="Microsoft YaHei"/>
              </a:rPr>
              <a:t>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4988052"/>
            <a:ext cx="1600200" cy="100584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80160" y="4988052"/>
            <a:ext cx="1322275" cy="10058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38427" y="4974336"/>
            <a:ext cx="128016" cy="128016"/>
          </a:xfrm>
          <a:prstGeom prst="ellipse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54096" y="4901184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23D79"/>
                </a:solidFill>
                <a:latin typeface="Microsoft YaHei"/>
                <a:ea typeface="Microsoft YaHei"/>
              </a:rPr>
              <a:t>0.413 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5422392"/>
            <a:ext cx="3429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60" b="0">
                <a:solidFill>
                  <a:srgbClr val="657789"/>
                </a:solidFill>
                <a:latin typeface="Microsoft YaHei"/>
                <a:ea typeface="Microsoft YaHei"/>
              </a:rPr>
              <a:t>seed 17 / 29 / 43；直接受体坐标比较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118104"/>
            <a:ext cx="7040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D79"/>
                </a:solidFill>
                <a:latin typeface="Microsoft YaHei"/>
                <a:ea typeface="Microsoft YaHei"/>
              </a:rPr>
              <a:t>20 个 LLM 候选相对参考的 docking 差值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354787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789"/>
                </a:solidFill>
                <a:latin typeface="Microsoft YaHei"/>
                <a:ea typeface="Microsoft YaHei"/>
              </a:rPr>
              <a:t>Δ minimizedAffinity；负值更优；橙色为最终最佳候选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82896" y="5260293"/>
            <a:ext cx="648309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4370832" y="5150565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57789"/>
                </a:solidFill>
                <a:latin typeface="Microsoft YaHei"/>
                <a:ea typeface="Microsoft YaHei"/>
              </a:rPr>
              <a:t>-0.4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82896" y="4758205"/>
            <a:ext cx="6483096" cy="0"/>
          </a:xfrm>
          <a:prstGeom prst="line">
            <a:avLst/>
          </a:prstGeom>
          <a:ln w="12700">
            <a:solidFill>
              <a:srgbClr val="8499A9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4370832" y="4648477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57789"/>
                </a:solidFill>
                <a:latin typeface="Microsoft YaHei"/>
                <a:ea typeface="Microsoft YaHei"/>
              </a:rPr>
              <a:t>0.0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82896" y="4256116"/>
            <a:ext cx="648309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4370832" y="4146388"/>
            <a:ext cx="393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57789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40503" y="4758205"/>
            <a:ext cx="205740" cy="440248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9355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64657" y="4090941"/>
            <a:ext cx="205740" cy="667263"/>
          </a:xfrm>
          <a:prstGeom prst="rect">
            <a:avLst/>
          </a:prstGeom>
          <a:solidFill>
            <a:srgbClr val="B9C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23509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8812" y="4758205"/>
            <a:ext cx="205740" cy="199601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47664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12967" y="4758205"/>
            <a:ext cx="205740" cy="178500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1819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7122" y="4758205"/>
            <a:ext cx="205740" cy="213952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5974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1277" y="4758205"/>
            <a:ext cx="205740" cy="460984"/>
          </a:xfrm>
          <a:prstGeom prst="rect">
            <a:avLst/>
          </a:prstGeom>
          <a:solidFill>
            <a:srgbClr val="DB8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20129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>
                <a:solidFill>
                  <a:srgbClr val="DB8A22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85431" y="4758205"/>
            <a:ext cx="205740" cy="344608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4283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9586" y="4758205"/>
            <a:ext cx="205740" cy="296203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8438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33741" y="4758205"/>
            <a:ext cx="205740" cy="249910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2593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57896" y="4642113"/>
            <a:ext cx="205740" cy="116091"/>
          </a:xfrm>
          <a:prstGeom prst="rect">
            <a:avLst/>
          </a:prstGeom>
          <a:solidFill>
            <a:srgbClr val="B9C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16748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2051" y="4758205"/>
            <a:ext cx="205740" cy="244102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40903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6206" y="4758205"/>
            <a:ext cx="205740" cy="441018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65058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30360" y="4758205"/>
            <a:ext cx="205740" cy="162028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89212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54515" y="4727088"/>
            <a:ext cx="205740" cy="31116"/>
          </a:xfrm>
          <a:prstGeom prst="rect">
            <a:avLst/>
          </a:prstGeom>
          <a:solidFill>
            <a:srgbClr val="B9C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13367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78670" y="4758205"/>
            <a:ext cx="205740" cy="61418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37522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02825" y="4758205"/>
            <a:ext cx="205740" cy="4105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61677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26980" y="4758205"/>
            <a:ext cx="205740" cy="362700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85832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51134" y="4758205"/>
            <a:ext cx="205740" cy="231902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09986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75289" y="4758205"/>
            <a:ext cx="205740" cy="279713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34141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099444" y="4209359"/>
            <a:ext cx="205740" cy="548845"/>
          </a:xfrm>
          <a:prstGeom prst="rect">
            <a:avLst/>
          </a:prstGeom>
          <a:solidFill>
            <a:srgbClr val="B9C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58296" y="54772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>
                <a:solidFill>
                  <a:srgbClr val="657789"/>
                </a:solidFill>
                <a:latin typeface="Microsoft YaHei"/>
                <a:ea typeface="Microsoft YaHei"/>
              </a:rPr>
              <a:t>20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6656" y="5824728"/>
            <a:ext cx="10826496" cy="0"/>
          </a:xfrm>
          <a:prstGeom prst="line">
            <a:avLst/>
          </a:prstGeom>
          <a:ln w="10160">
            <a:solidFill>
              <a:srgbClr val="D9E5ED"/>
            </a:solidFill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704088" y="5925312"/>
            <a:ext cx="66751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3D79"/>
                </a:solidFill>
                <a:latin typeface="Microsoft YaHei"/>
                <a:ea typeface="Microsoft YaHei"/>
              </a:rPr>
              <a:t>单次最佳 Δ：LLM -0.367；随机基线 -0.507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60920" y="592531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57789"/>
                </a:solidFill>
                <a:latin typeface="Microsoft YaHei"/>
                <a:ea typeface="Microsoft YaHei"/>
              </a:rPr>
              <a:t>需要重复实验，不能据此判断策略优劣。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29CB0"/>
                </a:solidFill>
                <a:latin typeface="Microsoft YaHei"/>
                <a:ea typeface="Microsoft YaHei"/>
              </a:rPr>
              <a:t>06  /  总结与计划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09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D79"/>
                </a:solidFill>
                <a:latin typeface="Microsoft YaHei"/>
                <a:ea typeface="Microsoft YaHei"/>
              </a:rPr>
              <a:t>下一步：从“链路可用”走向“收益可验证”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97864"/>
            <a:ext cx="11183112" cy="0"/>
          </a:xfrm>
          <a:prstGeom prst="line">
            <a:avLst/>
          </a:prstGeom>
          <a:ln w="12700">
            <a:solidFill>
              <a:srgbClr val="D9E5ED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02920" y="1197864"/>
            <a:ext cx="804672" cy="0"/>
          </a:xfrm>
          <a:prstGeom prst="line">
            <a:avLst/>
          </a:prstGeom>
          <a:ln w="31750">
            <a:solidFill>
              <a:srgbClr val="129CB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30352" y="1362456"/>
            <a:ext cx="11045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57789"/>
                </a:solidFill>
                <a:latin typeface="Microsoft YaHei"/>
                <a:ea typeface="Microsoft YaHei"/>
              </a:rPr>
              <a:t>现阶段完成受控编辑与可审计评价；后续重点是公平比较、重复验证与实验闭环。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8255">
            <a:solidFill>
              <a:srgbClr val="D9E5ED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02920" y="6528816"/>
            <a:ext cx="106070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789"/>
                </a:solidFill>
                <a:latin typeface="Microsoft YaHei"/>
                <a:ea typeface="Microsoft YaHei"/>
              </a:rPr>
              <a:t>近期工作进展  |  保留骨架的分子优化智能体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3968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789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D79"/>
                </a:solidFill>
                <a:latin typeface="Microsoft YaHei"/>
                <a:ea typeface="Microsoft YaHei"/>
              </a:rPr>
              <a:t>已具备的能力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7510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D79"/>
                </a:solidFill>
                <a:latin typeface="Microsoft YaHei"/>
                <a:ea typeface="Microsoft YaHei"/>
              </a:rPr>
              <a:t>下一步验证重点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34056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9CB0"/>
                </a:solidFill>
                <a:latin typeface="Microsoft YaHei"/>
                <a:ea typeface="Microsoft YaHei"/>
              </a:rPr>
              <a:t>受控分子编辑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13639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保留骨架，在明确位点和片段库内提出候选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34056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同预算重复比较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3639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多次 LLM、随机与 score-guided 基线运行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3511296"/>
            <a:ext cx="1078077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22376" y="3657600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9CB0"/>
                </a:solidFill>
                <a:latin typeface="Microsoft YaHei"/>
                <a:ea typeface="Microsoft YaHei"/>
              </a:rPr>
              <a:t>可解释计算反馈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0599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关联侧链选择、构建、pose 与相互作用变化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更可靠的候选排序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599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评估不确定性，再推进更高精度自由能计算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4434840"/>
            <a:ext cx="10780776" cy="0"/>
          </a:xfrm>
          <a:prstGeom prst="line">
            <a:avLst/>
          </a:prstGeom>
          <a:ln w="8890">
            <a:solidFill>
              <a:srgbClr val="D9E5ED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22376" y="4581144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9CB0"/>
                </a:solidFill>
                <a:latin typeface="Microsoft YaHei"/>
                <a:ea typeface="Microsoft YaHei"/>
              </a:rPr>
              <a:t>可复现实验记录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983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固定参考与 seeds，保留结构、命令和日志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81144"/>
            <a:ext cx="494690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3D79"/>
                </a:solidFill>
                <a:latin typeface="Microsoft YaHei"/>
                <a:ea typeface="Microsoft YaHei"/>
              </a:rPr>
              <a:t>面向实验筛选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83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26384A"/>
                </a:solidFill>
                <a:latin typeface="Microsoft YaHei"/>
                <a:ea typeface="Microsoft YaHei"/>
              </a:rPr>
              <a:t>形成优先候选清单，推进合成与活性验证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861304"/>
            <a:ext cx="41148" cy="420624"/>
          </a:xfrm>
          <a:prstGeom prst="rect">
            <a:avLst/>
          </a:prstGeom>
          <a:solidFill>
            <a:srgbClr val="129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5879592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123D79"/>
                </a:solidFill>
                <a:latin typeface="Microsoft YaHei"/>
                <a:ea typeface="Microsoft YaHei"/>
              </a:rPr>
              <a:t>预期交付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5884164"/>
            <a:ext cx="9509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26384A"/>
                </a:solidFill>
                <a:latin typeface="Microsoft YaHei"/>
                <a:ea typeface="Microsoft YaHei"/>
              </a:rPr>
              <a:t>一份稳定、可解释、可追溯的候选清单，而不是未经验证的“新药”。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保留骨架的分子优化智能体｜白底紧凑版</dc:title>
  <dc:subject>总体流程、单点编辑、候选验证与当前进展</dc:subject>
  <dc:creator>黄婉仪</dc:creator>
  <cp:keywords/>
  <dc:description>白底重排；流程图和数据图为原生可编辑元素；概念插图由 image-gen 扩展生成。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