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99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822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全部三维蛋白、口袋、配体图均由 4WKQ/raw/4WKQ.original.pdb 的原始坐标渲染；未用生成模型重绘，未最小化或修改原子坐标。配体 IRE A 1101，共31个重原子。保留 CSX A 797；显示 altloc blank/A。固定核心碳以青色、可编辑侧链碳以橙色表示，杂原子按元素区分。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总体框架只保留五个关键节点及反馈回路，不展开各工具内部实现。Mermaid 源文件 assets/ppt_4wkq/mermaid/overview.mmd。结构图 a 为真实 EGFR kinase domain，b 为同一晶体中配体周围6 Å残基表面；使用半透明显示避免遮挡共晶配体，未替换或改变配体姿态。候选排序综合资格与质量函数，不只看单个对接分数。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参考配体与候选：runs/4wkq-llm-20260927-193317/reference-ligand.sdf 和 candidate-01.sdf。起始配体重原子坐标与 4WKQ 原始晶体坐标匹配。候选 #01 在同一位点 replacement-site-005 用 N-甲基哌嗪替换末端吗啉（cut bond 10-9），是高亮所标的真实片段替换，不是共晶结构，也不表示已验证实验活性。本次运行数值最佳为 #06（Δ=-0.367），但它只是给侧链加一个羟基，不适合作为侧链替换示例，因此本页改用 #01（Δ=-0.351）。高亮按实际21个保留重原子与侧链集合，而非无约束MCS。流程图 key_loop.mmd。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使用原版两个run的结果快照，不静默替换到其他运行。参考配体3/3 seed校准通过；正文不逐一报告RMSD或20个候选，避免信息过细。78/78是图构建正确，不表示全部初始构象无碰撞；20/20为候选层姿态门控通过；16/20为stability_eligible。主指标minimizedAffinity，展示合格配对seed的平均候选−参考差。LLM best -0.3672533333，随机best -0.5074233333。不得将对接分数当作实验自由能或活性。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下一步：多个LLM/随机/score-guided同预算重复运行；随后按计算证据形成候选清单，并考虑更高精度计算及实验验证。路线图中的实验验证是未来计划，不是已完成结果。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7512" y="557784"/>
            <a:ext cx="63093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58C99"/>
                </a:solidFill>
                <a:latin typeface="Microsoft YaHei"/>
                <a:ea typeface="Microsoft YaHei"/>
              </a:rPr>
              <a:t>近期工作进展  /  4WKQ · EGFR–gefitinib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508760"/>
            <a:ext cx="6400800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500" b="1">
                <a:solidFill>
                  <a:srgbClr val="204867"/>
                </a:solidFill>
                <a:latin typeface="Microsoft YaHei"/>
                <a:ea typeface="Microsoft YaHei"/>
              </a:rPr>
              <a:t>基于真实结构的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500" b="1">
                <a:solidFill>
                  <a:srgbClr val="204867"/>
                </a:solidFill>
                <a:latin typeface="Microsoft YaHei"/>
                <a:ea typeface="Microsoft YaHei"/>
              </a:rPr>
              <a:t>分子优化智能体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3264408"/>
            <a:ext cx="5943600" cy="4663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100" b="1">
                <a:solidFill>
                  <a:srgbClr val="158C99"/>
                </a:solidFill>
                <a:latin typeface="Microsoft YaHei"/>
                <a:ea typeface="Microsoft YaHei"/>
              </a:rPr>
              <a:t>保留骨架 · 侧链探索 · 计算反馈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4142232"/>
            <a:ext cx="5596128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00" b="0">
                <a:solidFill>
                  <a:srgbClr val="2A4051"/>
                </a:solidFill>
                <a:latin typeface="Microsoft YaHei"/>
                <a:ea typeface="Microsoft YaHei"/>
              </a:rPr>
              <a:t>在已知结合模式上，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00" b="0">
                <a:solidFill>
                  <a:srgbClr val="2A4051"/>
                </a:solidFill>
                <a:latin typeface="Microsoft YaHei"/>
                <a:ea typeface="Microsoft YaHei"/>
              </a:rPr>
              <a:t>寻找值得进一步验证的分子改造方案。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788152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6D8292"/>
                </a:solidFill>
                <a:latin typeface="Microsoft YaHei"/>
                <a:ea typeface="Microsoft YaHei"/>
              </a:rPr>
              <a:t>黄婉仪  ·  2026/9/28</a:t>
            </a:r>
          </a:p>
        </p:txBody>
      </p:sp>
      <p:pic>
        <p:nvPicPr>
          <p:cNvPr id="7" name="Picture 6" descr="4wkq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0024" y="723771"/>
            <a:ext cx="4526280" cy="522757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79792" y="6007608"/>
            <a:ext cx="3749039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6D8292"/>
                </a:solidFill>
                <a:latin typeface="Microsoft YaHei"/>
                <a:ea typeface="Microsoft YaHei"/>
              </a:rPr>
              <a:t>真实晶体结构  |  PDB 4WKQ · 1.85 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437376"/>
            <a:ext cx="11091672" cy="0"/>
          </a:xfrm>
          <a:prstGeom prst="line">
            <a:avLst/>
          </a:prstGeom>
          <a:ln w="8890">
            <a:solidFill>
              <a:srgbClr val="DCE8EE"/>
            </a:solidFill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566928" y="6556248"/>
            <a:ext cx="10607040" cy="173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850" b="0">
                <a:solidFill>
                  <a:srgbClr val="6D8292"/>
                </a:solidFill>
                <a:latin typeface="Microsoft YaHei"/>
                <a:ea typeface="Microsoft YaHei"/>
              </a:rPr>
              <a:t>结构来源：RCSB PDB 4WKQ；链 A，配体 IRE A 1101；PyMOL 按原始坐标渲染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37392" y="6501384"/>
            <a:ext cx="48463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D8292"/>
                </a:solidFill>
                <a:latin typeface="Microsoft YaHei"/>
                <a:ea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7784" y="237744"/>
            <a:ext cx="107899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158C99"/>
                </a:solidFill>
                <a:latin typeface="Microsoft YaHei"/>
                <a:ea typeface="Microsoft YaHei"/>
              </a:rPr>
              <a:t>01  /  整体思路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" y="612648"/>
            <a:ext cx="11000232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204867"/>
                </a:solidFill>
                <a:latin typeface="Microsoft YaHei"/>
                <a:ea typeface="Microsoft YaHei"/>
              </a:rPr>
              <a:t>用真实结构约束设计，用计算反馈收敛候选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57784" y="1271016"/>
            <a:ext cx="11082528" cy="0"/>
          </a:xfrm>
          <a:prstGeom prst="line">
            <a:avLst/>
          </a:prstGeom>
          <a:ln w="11430">
            <a:solidFill>
              <a:srgbClr val="DCE8EE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548640" y="6437376"/>
            <a:ext cx="11091672" cy="0"/>
          </a:xfrm>
          <a:prstGeom prst="line">
            <a:avLst/>
          </a:prstGeom>
          <a:ln w="8890">
            <a:solidFill>
              <a:srgbClr val="DCE8EE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556248"/>
            <a:ext cx="10607040" cy="173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850" b="0">
                <a:solidFill>
                  <a:srgbClr val="6D8292"/>
                </a:solidFill>
                <a:latin typeface="Microsoft YaHei"/>
                <a:ea typeface="Microsoft YaHei"/>
              </a:rPr>
              <a:t>结构：PDB 4WKQ（原始坐标）；流程图：Mermaid 源文件 + 内嵌 SVG 矢量图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501384"/>
            <a:ext cx="48463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D8292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527048"/>
            <a:ext cx="4078224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204867"/>
                </a:solidFill>
                <a:latin typeface="Microsoft YaHei"/>
                <a:ea typeface="Microsoft YaHei"/>
              </a:rPr>
              <a:t>a  真实复合物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718" y="4055902"/>
            <a:ext cx="518464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 dirty="0">
                <a:solidFill>
                  <a:srgbClr val="204867"/>
                </a:solidFill>
                <a:latin typeface="Microsoft YaHei"/>
                <a:ea typeface="Microsoft YaHei"/>
              </a:rPr>
              <a:t>b  </a:t>
            </a:r>
            <a:r>
              <a:rPr sz="1700" b="1" dirty="0" err="1">
                <a:solidFill>
                  <a:srgbClr val="204867"/>
                </a:solidFill>
                <a:latin typeface="Microsoft YaHei"/>
                <a:ea typeface="Microsoft YaHei"/>
              </a:rPr>
              <a:t>原始结合口袋</a:t>
            </a:r>
            <a:endParaRPr sz="1700" b="1" dirty="0">
              <a:solidFill>
                <a:srgbClr val="204867"/>
              </a:solidFill>
              <a:latin typeface="Microsoft YaHei"/>
              <a:ea typeface="Microsoft YaHei"/>
            </a:endParaRPr>
          </a:p>
        </p:txBody>
      </p:sp>
      <p:pic>
        <p:nvPicPr>
          <p:cNvPr id="10" name="Picture 9" descr="4wkq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9652" y="1856231"/>
            <a:ext cx="1456783" cy="1682496"/>
          </a:xfrm>
          <a:prstGeom prst="rect">
            <a:avLst/>
          </a:prstGeom>
        </p:spPr>
      </p:pic>
      <p:pic>
        <p:nvPicPr>
          <p:cNvPr id="11" name="Picture 10" descr="4wkq_pocket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6343" y="4163764"/>
            <a:ext cx="1760948" cy="13964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4128" y="3584448"/>
            <a:ext cx="3474720" cy="265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50" b="0" dirty="0" err="1">
                <a:solidFill>
                  <a:srgbClr val="6D8292"/>
                </a:solidFill>
                <a:latin typeface="Microsoft YaHei"/>
                <a:ea typeface="Microsoft YaHei"/>
              </a:rPr>
              <a:t>已知配体与结合模式</a:t>
            </a:r>
            <a:endParaRPr sz="1250" b="0" dirty="0">
              <a:solidFill>
                <a:srgbClr val="6D8292"/>
              </a:solidFill>
              <a:latin typeface="Microsoft YaHei"/>
              <a:ea typeface="Microsoft YaHe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3049" y="5706545"/>
            <a:ext cx="3156743" cy="1968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6D8292"/>
                </a:solidFill>
                <a:latin typeface="Microsoft YaHei"/>
                <a:ea typeface="Microsoft YaHei"/>
              </a:rPr>
              <a:t>口袋环境为局部改造提供约束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" y="5943600"/>
            <a:ext cx="41148" cy="365760"/>
          </a:xfrm>
          <a:prstGeom prst="rect">
            <a:avLst/>
          </a:prstGeom>
          <a:solidFill>
            <a:srgbClr val="158C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5934456"/>
            <a:ext cx="10744200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50" b="1" dirty="0" err="1">
                <a:solidFill>
                  <a:srgbClr val="204867"/>
                </a:solidFill>
                <a:latin typeface="Microsoft YaHei"/>
                <a:ea typeface="Microsoft YaHei"/>
              </a:rPr>
              <a:t>核心是“提出</a:t>
            </a:r>
            <a:r>
              <a:rPr sz="1950" b="1" dirty="0">
                <a:solidFill>
                  <a:srgbClr val="204867"/>
                </a:solidFill>
                <a:latin typeface="Microsoft YaHei"/>
                <a:ea typeface="Microsoft YaHei"/>
              </a:rPr>
              <a:t> → </a:t>
            </a:r>
            <a:r>
              <a:rPr sz="1950" b="1" dirty="0" err="1">
                <a:solidFill>
                  <a:srgbClr val="204867"/>
                </a:solidFill>
                <a:latin typeface="Microsoft YaHei"/>
                <a:ea typeface="Microsoft YaHei"/>
              </a:rPr>
              <a:t>验证</a:t>
            </a:r>
            <a:r>
              <a:rPr sz="1950" b="1" dirty="0">
                <a:solidFill>
                  <a:srgbClr val="204867"/>
                </a:solidFill>
                <a:latin typeface="Microsoft YaHei"/>
                <a:ea typeface="Microsoft YaHei"/>
              </a:rPr>
              <a:t> → </a:t>
            </a:r>
            <a:r>
              <a:rPr sz="1950" b="1" dirty="0" err="1">
                <a:solidFill>
                  <a:srgbClr val="204867"/>
                </a:solidFill>
                <a:latin typeface="Microsoft YaHei"/>
                <a:ea typeface="Microsoft YaHei"/>
              </a:rPr>
              <a:t>反馈</a:t>
            </a:r>
            <a:r>
              <a:rPr sz="1950" b="1" dirty="0">
                <a:solidFill>
                  <a:srgbClr val="204867"/>
                </a:solidFill>
                <a:latin typeface="Microsoft YaHei"/>
                <a:ea typeface="Microsoft YaHei"/>
              </a:rPr>
              <a:t>”，</a:t>
            </a:r>
            <a:r>
              <a:rPr sz="1950" b="1" dirty="0" err="1">
                <a:solidFill>
                  <a:srgbClr val="204867"/>
                </a:solidFill>
                <a:latin typeface="Microsoft YaHei"/>
                <a:ea typeface="Microsoft YaHei"/>
              </a:rPr>
              <a:t>而不是让模型自由生成分子</a:t>
            </a:r>
            <a:r>
              <a:rPr sz="1950" b="1" dirty="0">
                <a:solidFill>
                  <a:srgbClr val="204867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17" name="Mermaid SVG — main_flow">
            <a:extLst>
              <a:ext uri="{FF2B5EF4-FFF2-40B4-BE49-F238E27FC236}">
                <a16:creationId xmlns:a16="http://schemas.microsoft.com/office/drawing/2014/main" id="{E1A39C85-4954-A954-D204-19A0A0EFF3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93693" y="1491925"/>
            <a:ext cx="6446035" cy="40702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7784" y="237744"/>
            <a:ext cx="107899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158C99"/>
                </a:solidFill>
                <a:latin typeface="Microsoft YaHei"/>
                <a:ea typeface="Microsoft YaHei"/>
              </a:rPr>
              <a:t>02  /  核心策略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" y="612648"/>
            <a:ext cx="11000232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204867"/>
                </a:solidFill>
                <a:latin typeface="Microsoft YaHei"/>
                <a:ea typeface="Microsoft YaHei"/>
              </a:rPr>
              <a:t>骨架不变，侧链受控优化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57784" y="1271016"/>
            <a:ext cx="11082528" cy="0"/>
          </a:xfrm>
          <a:prstGeom prst="line">
            <a:avLst/>
          </a:prstGeom>
          <a:ln w="11430">
            <a:solidFill>
              <a:srgbClr val="DCE8EE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548640" y="6437376"/>
            <a:ext cx="11091672" cy="0"/>
          </a:xfrm>
          <a:prstGeom prst="line">
            <a:avLst/>
          </a:prstGeom>
          <a:ln w="8890">
            <a:solidFill>
              <a:srgbClr val="DCE8EE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556248"/>
            <a:ext cx="10607040" cy="173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850" b="0">
                <a:solidFill>
                  <a:srgbClr val="6D8292"/>
                </a:solidFill>
                <a:latin typeface="Microsoft YaHei"/>
                <a:ea typeface="Microsoft YaHei"/>
              </a:rPr>
              <a:t>原配体与候选结构来自实际 SDF；候选为计算构建结构，不是新的晶体结构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501384"/>
            <a:ext cx="48463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D8292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508760"/>
            <a:ext cx="455371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204867"/>
                </a:solidFill>
                <a:latin typeface="Microsoft YaHei"/>
                <a:ea typeface="Microsoft YaHei"/>
              </a:rPr>
              <a:t>共晶配体  /  gefitinib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23176" y="1508760"/>
            <a:ext cx="441655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204867"/>
                </a:solidFill>
                <a:latin typeface="Microsoft YaHei"/>
                <a:ea typeface="Microsoft YaHei"/>
              </a:rPr>
              <a:t>候选示例 #01  /  计算构建</a:t>
            </a:r>
          </a:p>
        </p:txBody>
      </p:sp>
      <p:pic>
        <p:nvPicPr>
          <p:cNvPr id="10" name="Picture 9" descr="reference_lig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479" y="1883664"/>
            <a:ext cx="3295185" cy="1801368"/>
          </a:xfrm>
          <a:prstGeom prst="rect">
            <a:avLst/>
          </a:prstGeom>
        </p:spPr>
      </p:pic>
      <p:pic>
        <p:nvPicPr>
          <p:cNvPr id="11" name="Picture 10" descr="candidate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9287" y="1883664"/>
            <a:ext cx="3295185" cy="1801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84064" y="2240280"/>
            <a:ext cx="2029968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 dirty="0" err="1">
                <a:solidFill>
                  <a:srgbClr val="158C99"/>
                </a:solidFill>
                <a:latin typeface="Microsoft YaHei"/>
                <a:ea typeface="Microsoft YaHei"/>
              </a:rPr>
              <a:t>固定核心</a:t>
            </a:r>
            <a:endParaRPr sz="1700" b="1" dirty="0">
              <a:solidFill>
                <a:srgbClr val="158C99"/>
              </a:solidFill>
              <a:latin typeface="Microsoft YaHei"/>
              <a:ea typeface="Microsoft YaHei"/>
            </a:endParaRP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 dirty="0" err="1">
                <a:solidFill>
                  <a:srgbClr val="158C99"/>
                </a:solidFill>
                <a:latin typeface="Microsoft YaHei"/>
                <a:ea typeface="Microsoft YaHei"/>
              </a:rPr>
              <a:t>仅改侧链</a:t>
            </a:r>
            <a:endParaRPr sz="1700" b="1" dirty="0">
              <a:solidFill>
                <a:srgbClr val="158C99"/>
              </a:solidFill>
              <a:latin typeface="Microsoft YaHei"/>
              <a:ea typeface="Microsoft YaHe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84064" y="3108960"/>
            <a:ext cx="2029968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1" dirty="0" err="1">
                <a:solidFill>
                  <a:srgbClr val="204867"/>
                </a:solidFill>
                <a:latin typeface="Microsoft YaHei"/>
                <a:ea typeface="Microsoft YaHei"/>
              </a:rPr>
              <a:t>末端环替换</a:t>
            </a:r>
            <a:endParaRPr sz="1350" b="1" dirty="0">
              <a:solidFill>
                <a:srgbClr val="204867"/>
              </a:solidFill>
              <a:latin typeface="Microsoft YaHei"/>
              <a:ea typeface="Microsoft YaHei"/>
            </a:endParaRP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1" dirty="0" err="1">
                <a:solidFill>
                  <a:srgbClr val="204867"/>
                </a:solidFill>
                <a:latin typeface="Microsoft YaHei"/>
                <a:ea typeface="Microsoft YaHei"/>
              </a:rPr>
              <a:t>吗啉</a:t>
            </a:r>
            <a:r>
              <a:rPr sz="1350" b="1" dirty="0">
                <a:solidFill>
                  <a:srgbClr val="204867"/>
                </a:solidFill>
                <a:latin typeface="Microsoft YaHei"/>
                <a:ea typeface="Microsoft YaHei"/>
              </a:rPr>
              <a:t> → N-</a:t>
            </a:r>
            <a:r>
              <a:rPr sz="1350" b="1" dirty="0" err="1">
                <a:solidFill>
                  <a:srgbClr val="204867"/>
                </a:solidFill>
                <a:latin typeface="Microsoft YaHei"/>
                <a:ea typeface="Microsoft YaHei"/>
              </a:rPr>
              <a:t>甲基哌嗪</a:t>
            </a:r>
            <a:endParaRPr sz="1350" b="1" dirty="0">
              <a:solidFill>
                <a:srgbClr val="204867"/>
              </a:solidFill>
              <a:latin typeface="Microsoft YaHei"/>
              <a:ea typeface="Microsoft YaHei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969264" y="3794760"/>
            <a:ext cx="118872" cy="118872"/>
          </a:xfrm>
          <a:prstGeom prst="ellipse">
            <a:avLst/>
          </a:prstGeom>
          <a:solidFill>
            <a:srgbClr val="AED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79576" y="373075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6D8292"/>
                </a:solidFill>
                <a:latin typeface="Microsoft YaHei"/>
                <a:ea typeface="Microsoft YaHei"/>
              </a:rPr>
              <a:t>浅蓝：保留核心骨架</a:t>
            </a:r>
          </a:p>
        </p:txBody>
      </p:sp>
      <p:sp>
        <p:nvSpPr>
          <p:cNvPr id="16" name="Oval 15"/>
          <p:cNvSpPr/>
          <p:nvPr/>
        </p:nvSpPr>
        <p:spPr>
          <a:xfrm>
            <a:off x="7287768" y="3794760"/>
            <a:ext cx="118872" cy="118872"/>
          </a:xfrm>
          <a:prstGeom prst="ellipse">
            <a:avLst/>
          </a:prstGeom>
          <a:solidFill>
            <a:srgbClr val="FFE0B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726679" y="3794760"/>
            <a:ext cx="118872" cy="118872"/>
          </a:xfrm>
          <a:prstGeom prst="ellipse">
            <a:avLst/>
          </a:prstGeom>
          <a:solidFill>
            <a:srgbClr val="FAA8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36992" y="373075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6D8292"/>
                </a:solidFill>
                <a:latin typeface="Microsoft YaHei"/>
                <a:ea typeface="Microsoft YaHei"/>
              </a:rPr>
              <a:t>浅橙：原侧链　深橙：替换后末端环</a:t>
            </a:r>
          </a:p>
        </p:txBody>
      </p:sp>
      <p:pic>
        <p:nvPicPr>
          <p:cNvPr id="19" name="Mermaid SVG — key_loop" descr="key_loop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28444" y="4096512"/>
            <a:ext cx="8150351" cy="1746504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12648" y="5934456"/>
            <a:ext cx="41148" cy="365760"/>
          </a:xfrm>
          <a:prstGeom prst="rect">
            <a:avLst/>
          </a:prstGeom>
          <a:solidFill>
            <a:srgbClr val="158C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8" y="5925312"/>
            <a:ext cx="10744200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50" b="1" dirty="0" err="1">
                <a:solidFill>
                  <a:srgbClr val="204867"/>
                </a:solidFill>
                <a:latin typeface="Microsoft YaHei"/>
                <a:ea typeface="Microsoft YaHei"/>
              </a:rPr>
              <a:t>示例是同一位点的单点替换；能否入选，仍由计算验证决定</a:t>
            </a:r>
            <a:r>
              <a:rPr sz="1950" b="1" dirty="0">
                <a:solidFill>
                  <a:srgbClr val="204867"/>
                </a:solidFill>
                <a:latin typeface="Microsoft YaHei"/>
                <a:ea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7784" y="237744"/>
            <a:ext cx="107899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158C99"/>
                </a:solidFill>
                <a:latin typeface="Microsoft YaHei"/>
                <a:ea typeface="Microsoft YaHei"/>
              </a:rPr>
              <a:t>03  /  当前进展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" y="612648"/>
            <a:ext cx="11000232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204867"/>
                </a:solidFill>
                <a:latin typeface="Microsoft YaHei"/>
                <a:ea typeface="Microsoft YaHei"/>
              </a:rPr>
              <a:t>闭环已跑通，策略收益仍需验证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57784" y="1271016"/>
            <a:ext cx="11082528" cy="0"/>
          </a:xfrm>
          <a:prstGeom prst="line">
            <a:avLst/>
          </a:prstGeom>
          <a:ln w="11430">
            <a:solidFill>
              <a:srgbClr val="DCE8EE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85216" y="1453896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6D8292"/>
                </a:solidFill>
                <a:latin typeface="Microsoft YaHei"/>
                <a:ea typeface="Microsoft YaHei"/>
              </a:rPr>
              <a:t>4WKQ 闭集验证：同一候选库，每次运行最多提出 20 个候选。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37376"/>
            <a:ext cx="11091672" cy="0"/>
          </a:xfrm>
          <a:prstGeom prst="line">
            <a:avLst/>
          </a:prstGeom>
          <a:ln w="8890">
            <a:solidFill>
              <a:srgbClr val="DCE8EE"/>
            </a:solidFill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566928" y="6556248"/>
            <a:ext cx="10607040" cy="173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850" b="0">
                <a:solidFill>
                  <a:srgbClr val="6D8292"/>
                </a:solidFill>
                <a:latin typeface="Microsoft YaHei"/>
                <a:ea typeface="Microsoft YaHei"/>
              </a:rPr>
              <a:t>数据：LLM run 20260927-193317 / random-baseline-v1；沿用原汇报数据快照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501384"/>
            <a:ext cx="48463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D8292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084831"/>
            <a:ext cx="3383280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400" b="1">
                <a:solidFill>
                  <a:srgbClr val="158C99"/>
                </a:solidFill>
                <a:latin typeface="Microsoft YaHei"/>
                <a:ea typeface="Microsoft YaHei"/>
              </a:rPr>
              <a:t>78 / 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743200"/>
            <a:ext cx="347472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0">
                <a:solidFill>
                  <a:srgbClr val="2A4051"/>
                </a:solidFill>
                <a:latin typeface="Microsoft YaHei"/>
                <a:ea typeface="Microsoft YaHei"/>
              </a:rPr>
              <a:t>侧链可正确构建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61104" y="2148840"/>
            <a:ext cx="0" cy="978408"/>
          </a:xfrm>
          <a:prstGeom prst="line">
            <a:avLst/>
          </a:prstGeom>
          <a:ln w="11430">
            <a:solidFill>
              <a:srgbClr val="DCE8EE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4608576" y="2084831"/>
            <a:ext cx="3383280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400" b="1">
                <a:solidFill>
                  <a:srgbClr val="158C99"/>
                </a:solidFill>
                <a:latin typeface="Microsoft YaHei"/>
                <a:ea typeface="Microsoft YaHei"/>
              </a:rPr>
              <a:t>20 /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743200"/>
            <a:ext cx="347472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0">
                <a:solidFill>
                  <a:srgbClr val="2A4051"/>
                </a:solidFill>
                <a:latin typeface="Microsoft YaHei"/>
                <a:ea typeface="Microsoft YaHei"/>
              </a:rPr>
              <a:t>LLM 候选通过姿态验证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055864" y="2148840"/>
            <a:ext cx="0" cy="978408"/>
          </a:xfrm>
          <a:prstGeom prst="line">
            <a:avLst/>
          </a:prstGeom>
          <a:ln w="11430">
            <a:solidFill>
              <a:srgbClr val="DCE8EE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8403336" y="2084831"/>
            <a:ext cx="3383280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400" b="1">
                <a:solidFill>
                  <a:srgbClr val="158C99"/>
                </a:solidFill>
                <a:latin typeface="Microsoft YaHei"/>
                <a:ea typeface="Microsoft YaHei"/>
              </a:rPr>
              <a:t>16 / 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3336" y="2743200"/>
            <a:ext cx="347472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0">
                <a:solidFill>
                  <a:srgbClr val="2A4051"/>
                </a:solidFill>
                <a:latin typeface="Microsoft YaHei"/>
                <a:ea typeface="Microsoft YaHei"/>
              </a:rPr>
              <a:t>LLM 候选具稳定性资格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8952" y="3419856"/>
            <a:ext cx="10652760" cy="0"/>
          </a:xfrm>
          <a:prstGeom prst="line">
            <a:avLst/>
          </a:prstGeom>
          <a:ln w="11430">
            <a:solidFill>
              <a:srgbClr val="DCE8EE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832104" y="3694176"/>
            <a:ext cx="4983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204867"/>
                </a:solidFill>
                <a:latin typeface="Microsoft YaHei"/>
                <a:ea typeface="Microsoft YaHei"/>
              </a:rPr>
              <a:t>单次最佳 docking 差值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4215384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2A4051"/>
                </a:solidFill>
                <a:latin typeface="Microsoft YaHei"/>
                <a:ea typeface="Microsoft YaHei"/>
              </a:rPr>
              <a:t>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4142232"/>
            <a:ext cx="213055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158C99"/>
                </a:solidFill>
                <a:latin typeface="Microsoft YaHei"/>
                <a:ea typeface="Microsoft YaHei"/>
              </a:rPr>
              <a:t>-0.367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4855464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2A4051"/>
                </a:solidFill>
                <a:latin typeface="Microsoft YaHei"/>
                <a:ea typeface="Microsoft YaHei"/>
              </a:rPr>
              <a:t>随机基线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96312" y="4782312"/>
            <a:ext cx="213055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204867"/>
                </a:solidFill>
                <a:latin typeface="Microsoft YaHei"/>
                <a:ea typeface="Microsoft YaHei"/>
              </a:rPr>
              <a:t>-0.507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5532120"/>
            <a:ext cx="50017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6D8292"/>
                </a:solidFill>
                <a:latin typeface="Microsoft YaHei"/>
                <a:ea typeface="Microsoft YaHei"/>
              </a:rPr>
              <a:t>Δ = 候选 − 参考；负值更优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0256" y="3913632"/>
            <a:ext cx="4690872" cy="905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500" b="1">
                <a:solidFill>
                  <a:srgbClr val="204867"/>
                </a:solidFill>
                <a:latin typeface="Microsoft YaHei"/>
                <a:ea typeface="Microsoft YaHei"/>
              </a:rPr>
              <a:t>已证明链路可用，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500" b="1">
                <a:solidFill>
                  <a:srgbClr val="204867"/>
                </a:solidFill>
                <a:latin typeface="Microsoft YaHei"/>
                <a:ea typeface="Microsoft YaHei"/>
              </a:rPr>
              <a:t>尚未证明 LLM 更优。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7688" y="5065776"/>
            <a:ext cx="4700016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0">
                <a:solidFill>
                  <a:srgbClr val="6D8292"/>
                </a:solidFill>
                <a:latin typeface="Microsoft YaHei"/>
                <a:ea typeface="Microsoft YaHei"/>
              </a:rPr>
              <a:t>单次 docking 结果，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0">
                <a:solidFill>
                  <a:srgbClr val="6D8292"/>
                </a:solidFill>
                <a:latin typeface="Microsoft YaHei"/>
                <a:ea typeface="Microsoft YaHei"/>
              </a:rPr>
              <a:t>不能替代重复比较与实验验证。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" y="5943600"/>
            <a:ext cx="41148" cy="365760"/>
          </a:xfrm>
          <a:prstGeom prst="rect">
            <a:avLst/>
          </a:prstGeom>
          <a:solidFill>
            <a:srgbClr val="158C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5528" y="5934456"/>
            <a:ext cx="10744200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204867"/>
                </a:solidFill>
                <a:latin typeface="Microsoft YaHei"/>
                <a:ea typeface="Microsoft YaHei"/>
              </a:rPr>
              <a:t>下一步，以等预算重复实验检验真正的筛选收益。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7784" y="237744"/>
            <a:ext cx="107899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158C99"/>
                </a:solidFill>
                <a:latin typeface="Microsoft YaHei"/>
                <a:ea typeface="Microsoft YaHei"/>
              </a:rPr>
              <a:t>04  /  总结与下一步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" y="612648"/>
            <a:ext cx="11000232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204867"/>
                </a:solidFill>
                <a:latin typeface="Microsoft YaHei"/>
                <a:ea typeface="Microsoft YaHei"/>
              </a:rPr>
              <a:t>让 LLM 提出假设，让结构与计算工具把关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57784" y="1271016"/>
            <a:ext cx="11082528" cy="0"/>
          </a:xfrm>
          <a:prstGeom prst="line">
            <a:avLst/>
          </a:prstGeom>
          <a:ln w="11430">
            <a:solidFill>
              <a:srgbClr val="DCE8EE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548640" y="6437376"/>
            <a:ext cx="11091672" cy="0"/>
          </a:xfrm>
          <a:prstGeom prst="line">
            <a:avLst/>
          </a:prstGeom>
          <a:ln w="8890">
            <a:solidFill>
              <a:srgbClr val="DCE8EE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66928" y="6556248"/>
            <a:ext cx="10607040" cy="173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850" b="0">
                <a:solidFill>
                  <a:srgbClr val="6D8292"/>
                </a:solidFill>
                <a:latin typeface="Microsoft YaHei"/>
                <a:ea typeface="Microsoft YaHei"/>
              </a:rPr>
              <a:t>4WKQ · 保留骨架的分子优化智能体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501384"/>
            <a:ext cx="48463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D8292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01952"/>
            <a:ext cx="10012680" cy="795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600" b="1">
                <a:solidFill>
                  <a:srgbClr val="204867"/>
                </a:solidFill>
                <a:latin typeface="Microsoft YaHei"/>
                <a:ea typeface="Microsoft YaHei"/>
              </a:rPr>
              <a:t>目标不是“自动证明一个新药”，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600" b="1">
                <a:solidFill>
                  <a:srgbClr val="204867"/>
                </a:solidFill>
                <a:latin typeface="Microsoft YaHei"/>
                <a:ea typeface="Microsoft YaHei"/>
              </a:rPr>
              <a:t>而是更有依据地缩小候选范围。</a:t>
            </a:r>
          </a:p>
        </p:txBody>
      </p:sp>
      <p:pic>
        <p:nvPicPr>
          <p:cNvPr id="9" name="Mermaid SVG — next_steps" descr="next_steps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09899" y="2889504"/>
            <a:ext cx="8350864" cy="1664208"/>
          </a:xfrm>
          <a:prstGeom prst="rect">
            <a:avLst/>
          </a:prstGeom>
        </p:spPr>
      </p:pic>
      <p:cxnSp>
        <p:nvCxnSpPr>
          <p:cNvPr id="10" name="Connector 9"/>
          <p:cNvCxnSpPr/>
          <p:nvPr/>
        </p:nvCxnSpPr>
        <p:spPr>
          <a:xfrm>
            <a:off x="813816" y="4718304"/>
            <a:ext cx="10515600" cy="0"/>
          </a:xfrm>
          <a:prstGeom prst="line">
            <a:avLst/>
          </a:prstGeom>
          <a:ln w="11430">
            <a:solidFill>
              <a:srgbClr val="DCE8EE"/>
            </a:solidFill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868680" y="5020056"/>
            <a:ext cx="2990088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100" b="1">
                <a:solidFill>
                  <a:srgbClr val="158C99"/>
                </a:solidFill>
                <a:latin typeface="Microsoft YaHei"/>
                <a:ea typeface="Microsoft YaHei"/>
              </a:rPr>
              <a:t>候选结构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513832"/>
            <a:ext cx="30998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6D8292"/>
                </a:solidFill>
                <a:latin typeface="Microsoft YaHei"/>
                <a:ea typeface="Microsoft YaHei"/>
              </a:rPr>
              <a:t>可复现的分子改造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020056"/>
            <a:ext cx="2990088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100" b="1">
                <a:solidFill>
                  <a:srgbClr val="158C99"/>
                </a:solidFill>
                <a:latin typeface="Microsoft YaHei"/>
                <a:ea typeface="Microsoft YaHei"/>
              </a:rPr>
              <a:t>验证证据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513832"/>
            <a:ext cx="30998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6D8292"/>
                </a:solidFill>
                <a:latin typeface="Microsoft YaHei"/>
                <a:ea typeface="Microsoft YaHei"/>
              </a:rPr>
              <a:t>结构与计算结果支持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0183" y="5020056"/>
            <a:ext cx="2990088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100" b="1">
                <a:solidFill>
                  <a:srgbClr val="158C99"/>
                </a:solidFill>
                <a:latin typeface="Microsoft YaHei"/>
                <a:ea typeface="Microsoft YaHei"/>
              </a:rPr>
              <a:t>完整记录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3" y="5513832"/>
            <a:ext cx="30998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6D8292"/>
                </a:solidFill>
                <a:latin typeface="Microsoft YaHei"/>
                <a:ea typeface="Microsoft YaHei"/>
              </a:rPr>
              <a:t>决策和运行过程可追溯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449</Words>
  <Application>Microsoft Office PowerPoint</Application>
  <PresentationFormat>宽屏</PresentationFormat>
  <Paragraphs>71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基于4WKQ真实结构的分子优化智能体</dc:title>
  <dc:subject>真实晶体结构 + Mermaid 总体闭环；五页简洁版（修订版：#01 片段替换示例）</dc:subject>
  <dc:creator>黄婉仪</dc:creator>
  <cp:keywords/>
  <dc:description>3D visuals rendered directly from deposited 4WKQ coordinates. Mermaid SVGs with PNG fallbacks; MMD source supplied. No generative molecular redraw.</dc:description>
  <cp:lastModifiedBy>婉仪 黄</cp:lastModifiedBy>
  <cp:revision>2</cp:revision>
  <dcterms:created xsi:type="dcterms:W3CDTF">2013-01-27T09:14:16Z</dcterms:created>
  <dcterms:modified xsi:type="dcterms:W3CDTF">2026-09-27T23:17:13Z</dcterms:modified>
  <cp:category/>
</cp:coreProperties>
</file>